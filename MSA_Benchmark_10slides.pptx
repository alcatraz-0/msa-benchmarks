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 0:00–0:30]</a:t>
            </a:r>
          </a:p>
          <a:p/>
          <a:p>
            <a:r>
              <a:t>Presenter A: "Good afternoon, everyone. I'm Anand Meena, and with me is Shruthi Kodati. We have 15 minutes to walk you through our CS 502 benchmarking study on multiple sequence alignment tools."</a:t>
            </a:r>
          </a:p>
          <a:p/>
          <a:p>
            <a:r>
              <a:t>Presenter B: "We'll cover why this problem matters, the four datasets and seven tools we tested, our accuracy and speed findings, and finish with practical guidance on which tool to use when. Let's get started."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 — 0:30–2:15  (~1:45)]</a:t>
            </a:r>
          </a:p>
          <a:p/>
          <a:p>
            <a:r>
              <a:t>"So why does alignment quality matter so much? MSA is the very first analytical step whenever you're comparing protein sequences across species or evolutionary time. Get it wrong, and every downstream result — your phylogenetic tree, your homology model, your conserved-domain calls — can be subtly corrupted. And the worst part: it fails silently. The pipeline keeps running and produces output that looks perfectly normal.</a:t>
            </a:r>
          </a:p>
          <a:p/>
          <a:p>
            <a:r>
              <a:t>[Point right.] The field has three main approaches. Progressive methods like Clustal Omega and FAMSA are fast — they build a rough guide tree and align sequences in one pass. The risk is they commit to early alignment decisions they never revisit. Iterative methods like MUSCLE5 go back and realign repeatedly to escape bad local solutions — slower, but more accurate. Consistency-based tools like T-Coffee are the most thorough — they score every position based on all possible pairwise alignments — but the cost scales quadratically with sequence count.</a:t>
            </a:r>
          </a:p>
          <a:p/>
          <a:p>
            <a:r>
              <a:t>Our goal was to put all seven tools through their paces on a large, diverse set of protein families and measure the differences rigorously."</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 — 2:15–3:45  (~1:30)]</a:t>
            </a:r>
          </a:p>
          <a:p/>
          <a:p>
            <a:r>
              <a:t>"Before I describe the tools, a moment on the datasets — because the benchmark you choose determines what you can claim.</a:t>
            </a:r>
          </a:p>
          <a:p/>
          <a:p>
            <a:r>
              <a:t>[Top-left.] BAliBASE 3.0 is the community gold standard. It was manually curated across six distinct evolutionary scenarios — everything from small low-identity families to large divergent sets with circular permutations.</a:t>
            </a:r>
          </a:p>
          <a:p/>
          <a:p>
            <a:r>
              <a:t>[Top-right.] OXBench is based on actual 3D crystal structures. The correct alignment is defined by physically superimposing atoms in space. No human judgment involved — this is as objective as it gets.</a:t>
            </a:r>
          </a:p>
          <a:p/>
          <a:p>
            <a:r>
              <a:t>[Bottom-left.] SABRE spans an enormous range of sequence identities, letting us ask whether the same tools win across the full evolutionary spectrum.</a:t>
            </a:r>
          </a:p>
          <a:p/>
          <a:p>
            <a:r>
              <a:t>[Bottom-right.] PREFAB4 is our scalability stress test. Its 50-sequence families are where slow algorithms start to break.</a:t>
            </a:r>
          </a:p>
          <a:p/>
          <a:p>
            <a:r>
              <a:t>Together these four give us confidence that our findings aren't artifacts of any single dataset. Now let me hand over to Shruthi to walk through the tools and scoring."</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 — 3:45–5:00  (~1:15)]</a:t>
            </a:r>
          </a:p>
          <a:p/>
          <a:p>
            <a:r>
              <a:t>"Thanks Anand. Seven tools — I won't go through each one in detail, but the key point is they represent all three algorithm families we just described. Two configurations of MAFFT, MUSCLE5, Clustal Omega, Kalign3, T-Coffee, and FAMSA.</a:t>
            </a:r>
          </a:p>
          <a:p/>
          <a:p>
            <a:r>
              <a:t>Critical for fairness: we pinned every tool to a single CPU thread. That way we're measuring algorithmic efficiency, not how well a tool uses multiple cores.</a:t>
            </a:r>
          </a:p>
          <a:p/>
          <a:p>
            <a:r>
              <a:t>For scoring we used two metrics. [Point to cards.] SP — Sum of Pairs — counts whether residues that should be co-aligned actually are, and gives partial credit per pair. TC — Total Column — is much stricter. A column only gets credit if every single sequence has the right residue there. One error, zero credit.</a:t>
            </a:r>
          </a:p>
          <a:p/>
          <a:p>
            <a:r>
              <a:t>One important detail: we only scored uppercase residues — positions that were structurally confirmed in the original crystal structures. This makes the benchmark conservative but meaningful."</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 — 5:00–6:00  (~1:00)]</a:t>
            </a:r>
          </a:p>
          <a:p/>
          <a:p>
            <a:r>
              <a:t>"Before the results, let me briefly walk through our statistical approach — five tests in sequence.</a:t>
            </a:r>
          </a:p>
          <a:p/>
          <a:p>
            <a:r>
              <a:t>Step one: the Friedman test confirmed there are genuine global differences across the seven tools. The p-value was less than ten to the power of negative 199. That's not a borderline result.</a:t>
            </a:r>
          </a:p>
          <a:p/>
          <a:p>
            <a:r>
              <a:t>Step two: Wilcoxon signed-rank tests, corrected for multiple comparisons, told us which specific pairs differ. Twenty of twenty-one pairs were significant. The one exception: MAFFT FFT-NS-2 and Kalign3 — two fast progressive tools that are statistically indistinguishable.</a:t>
            </a:r>
          </a:p>
          <a:p/>
          <a:p>
            <a:r>
              <a:t>Step three: Cliff's delta told us effect sizes are small. The differences are real and consistent, but moderate per individual family — they compound when you're working at scale.</a:t>
            </a:r>
          </a:p>
          <a:p/>
          <a:p>
            <a:r>
              <a:t>Step four: Nemenyi post-hoc confirmed three distinct tiers, which I'll show you now.</a:t>
            </a:r>
          </a:p>
          <a:p/>
          <a:p>
            <a:r>
              <a:t>Step five: bootstrap confidence intervals on 10,000 resamples confirmed these rankings are stable — not driven by a few unusual families."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 — 6:00–7:45  (~1:45)]</a:t>
            </a:r>
          </a:p>
          <a:p/>
          <a:p>
            <a:r>
              <a:t>"Here are the results.</a:t>
            </a:r>
          </a:p>
          <a:p>
            <a:r>
              <a:t>[pause]</a:t>
            </a:r>
          </a:p>
          <a:p>
            <a:r>
              <a:t>We found three distinct tiers of performance.</a:t>
            </a:r>
          </a:p>
          <a:p>
            <a:r>
              <a:t>These tiers were confirmed by the Nemenyi post-hoc test.</a:t>
            </a:r>
          </a:p>
          <a:p/>
          <a:p>
            <a:r>
              <a:t>[Point to top row.]</a:t>
            </a:r>
          </a:p>
          <a:p>
            <a:r>
              <a:t>MUSCLE5 sits alone at the top.</a:t>
            </a:r>
          </a:p>
          <a:p>
            <a:r>
              <a:t>Its mean SP score is 0.761.</a:t>
            </a:r>
          </a:p>
          <a:p>
            <a:r>
              <a:t>[pause]</a:t>
            </a:r>
          </a:p>
          <a:p>
            <a:r>
              <a:t>Why does it stand alone?</a:t>
            </a:r>
          </a:p>
          <a:p>
            <a:r>
              <a:t>MUSCLE5 uses an ensemble strategy.</a:t>
            </a:r>
          </a:p>
          <a:p>
            <a:r>
              <a:t>It generates multiple candidate alignments — from different starting seeds —</a:t>
            </a:r>
          </a:p>
          <a:p>
            <a:r>
              <a:t>and keeps the best one.</a:t>
            </a:r>
          </a:p>
          <a:p>
            <a:r>
              <a:t>That way, it reliably escapes the local optima that trip up simpler methods.</a:t>
            </a:r>
          </a:p>
          <a:p/>
          <a:p>
            <a:r>
              <a:t>[Move down the table.]</a:t>
            </a:r>
          </a:p>
          <a:p>
            <a:r>
              <a:t>Below it, four tools form the middle tier:</a:t>
            </a:r>
          </a:p>
          <a:p>
            <a:r>
              <a:t>T-Coffee, MAFFT L-INS-i, Clustal Omega, and FAMSA.</a:t>
            </a:r>
          </a:p>
          <a:p>
            <a:r>
              <a:t>Statistically, these four are indistinguishable from each other.</a:t>
            </a:r>
          </a:p>
          <a:p/>
          <a:p>
            <a:r>
              <a:t>[Point to bottom rows.]</a:t>
            </a:r>
          </a:p>
          <a:p>
            <a:r>
              <a:t>And at the bottom — the two fast progressive tools.</a:t>
            </a:r>
          </a:p>
          <a:p>
            <a:r>
              <a:t>MAFFT FFT-NS-2 and Kalign3.</a:t>
            </a:r>
          </a:p>
          <a:p/>
          <a:p>
            <a:r>
              <a:t>One important caveat before I move on.</a:t>
            </a:r>
          </a:p>
          <a:p>
            <a:r>
              <a:t>[pause]</a:t>
            </a:r>
          </a:p>
          <a:p>
            <a:r>
              <a:t>The effect sizes — measured by Cliff's delta — are all small.</a:t>
            </a:r>
          </a:p>
          <a:p>
            <a:r>
              <a:t>The maximum is 0.22.</a:t>
            </a:r>
          </a:p>
          <a:p>
            <a:r>
              <a:t>[pause]</a:t>
            </a:r>
          </a:p>
          <a:p>
            <a:r>
              <a:t>The differences are real.</a:t>
            </a:r>
          </a:p>
          <a:p>
            <a:r>
              <a:t>They are consistent across hundreds of families.</a:t>
            </a:r>
          </a:p>
          <a:p>
            <a:r>
              <a:t>But for any single protein, they are moderate.</a:t>
            </a:r>
          </a:p>
          <a:p>
            <a:r>
              <a:t>[pause]</a:t>
            </a:r>
          </a:p>
          <a:p>
            <a:r>
              <a:t>They matter most when you are working at scale,</a:t>
            </a:r>
          </a:p>
          <a:p>
            <a:r>
              <a:t>or with highly divergent sequences.</a:t>
            </a:r>
          </a:p>
          <a:p>
            <a:r>
              <a:t>[pause]</a:t>
            </a:r>
          </a:p>
          <a:p>
            <a:r>
              <a:t>Which is exactly what the next slide covers.</a:t>
            </a:r>
          </a:p>
          <a:p>
            <a:r>
              <a:t>I will hand back to Anand."</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 — 7:45–9:30  (~1:45)]</a:t>
            </a:r>
          </a:p>
          <a:p/>
          <a:p>
            <a:r>
              <a:t>"This is the result I want everyone to walk away with.</a:t>
            </a:r>
          </a:p>
          <a:p>
            <a:r>
              <a:t>[pause]</a:t>
            </a:r>
          </a:p>
          <a:p>
            <a:r>
              <a:t>The answer to 'which aligner should I use'</a:t>
            </a:r>
          </a:p>
          <a:p>
            <a:r>
              <a:t>depends on one number:</a:t>
            </a:r>
          </a:p>
          <a:p>
            <a:r>
              <a:t>the pairwise sequence identity of your protein family.</a:t>
            </a:r>
          </a:p>
          <a:p/>
          <a:p>
            <a:r>
              <a:t>[Point to left panel.]</a:t>
            </a:r>
          </a:p>
          <a:p>
            <a:r>
              <a:t>Above 60% identity — all seven tools converge.</a:t>
            </a:r>
          </a:p>
          <a:p>
            <a:r>
              <a:t>The differences shrink to less than 0.05 SP units.</a:t>
            </a:r>
          </a:p>
          <a:p>
            <a:r>
              <a:t>[pause]</a:t>
            </a:r>
          </a:p>
          <a:p>
            <a:r>
              <a:t>The sequences are similar enough</a:t>
            </a:r>
          </a:p>
          <a:p>
            <a:r>
              <a:t>that even a simple, one-pass alignment gets it essentially right.</a:t>
            </a:r>
          </a:p>
          <a:p>
            <a:r>
              <a:t>Don't overthink it.</a:t>
            </a:r>
          </a:p>
          <a:p>
            <a:r>
              <a:t>Use FAMSA or Kalign3, and move on.</a:t>
            </a:r>
          </a:p>
          <a:p/>
          <a:p>
            <a:r>
              <a:t>[Point to right panel.]</a:t>
            </a:r>
          </a:p>
          <a:p>
            <a:r>
              <a:t>Below 20% identity — the story changes completely.</a:t>
            </a:r>
          </a:p>
          <a:p>
            <a:r>
              <a:t>[pause]</a:t>
            </a:r>
          </a:p>
          <a:p>
            <a:r>
              <a:t>The gap between the best and worst tools grows to about 0.15 SP units.</a:t>
            </a:r>
          </a:p>
          <a:p>
            <a:r>
              <a:t>That is 15 extra correctly aligned residue pairs per 100 evaluated.</a:t>
            </a:r>
          </a:p>
          <a:p>
            <a:r>
              <a:t>[pause]</a:t>
            </a:r>
          </a:p>
          <a:p>
            <a:r>
              <a:t>That might sound modest.</a:t>
            </a:r>
          </a:p>
          <a:p>
            <a:r>
              <a:t>But think about what it means in practice.</a:t>
            </a:r>
          </a:p>
          <a:p>
            <a:r>
              <a:t>[pause]</a:t>
            </a:r>
          </a:p>
          <a:p>
            <a:r>
              <a:t>A misalignment in a divergent family</a:t>
            </a:r>
          </a:p>
          <a:p>
            <a:r>
              <a:t>can flip which species group together on a phylogenetic tree.</a:t>
            </a:r>
          </a:p>
          <a:p>
            <a:r>
              <a:t>Or it can place an active-site residue in the wrong column —</a:t>
            </a:r>
          </a:p>
          <a:p>
            <a:r>
              <a:t>pointing a homology model's binding pocket the wrong direction.</a:t>
            </a:r>
          </a:p>
          <a:p/>
          <a:p>
            <a:r>
              <a:t>And here is the key.</a:t>
            </a:r>
          </a:p>
          <a:p>
            <a:r>
              <a:t>[pause]</a:t>
            </a:r>
          </a:p>
          <a:p>
            <a:r>
              <a:t>Ancient superfamilies — kinases, transcription factors, G-protein coupled receptors —</a:t>
            </a:r>
          </a:p>
          <a:p>
            <a:r>
              <a:t>these span kingdoms with less than 20% identity.</a:t>
            </a:r>
          </a:p>
          <a:p>
            <a:r>
              <a:t>That is where the most interesting biology lives.</a:t>
            </a:r>
          </a:p>
          <a:p>
            <a:r>
              <a:t>And that is exactly where MUSCLE5 or MAFFT L-INS-i are worth the extra time.</a:t>
            </a:r>
          </a:p>
          <a:p/>
          <a:p>
            <a:r>
              <a:t>Back to Shruthi for the speed analysis."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 — 9:30–11:30  (~2:00)]</a:t>
            </a:r>
          </a:p>
          <a:p/>
          <a:p>
            <a:r>
              <a:t>"Accuracy matters.</a:t>
            </a:r>
          </a:p>
          <a:p>
            <a:r>
              <a:t>But a tool also has to finish.</a:t>
            </a:r>
          </a:p>
          <a:p>
            <a:r>
              <a:t>[pause]</a:t>
            </a:r>
          </a:p>
          <a:p>
            <a:r>
              <a:t>Let me walk through the computational reality.</a:t>
            </a:r>
          </a:p>
          <a:p/>
          <a:p>
            <a:r>
              <a:t>[Point to the speed table.]</a:t>
            </a:r>
          </a:p>
          <a:p>
            <a:r>
              <a:t>Here are all seven tools ranked by median runtime.</a:t>
            </a:r>
          </a:p>
          <a:p>
            <a:r>
              <a:t>Kalign3 is essentially instantaneous — 0.06 seconds.</a:t>
            </a:r>
          </a:p>
          <a:p>
            <a:r>
              <a:t>FAMSA comes in at 0.19 seconds.</a:t>
            </a:r>
          </a:p>
          <a:p>
            <a:r>
              <a:t>MUSCLE5 and MAFFT sit in the half-second to one-second range.</a:t>
            </a:r>
          </a:p>
          <a:p>
            <a:r>
              <a:t>[pause]</a:t>
            </a:r>
          </a:p>
          <a:p>
            <a:r>
              <a:t>And T-Coffee — highlighted in red — has a median of 5.3 seconds.</a:t>
            </a:r>
          </a:p>
          <a:p>
            <a:r>
              <a:t>That number does not capture how badly it fails on larger families.</a:t>
            </a:r>
          </a:p>
          <a:p/>
          <a:p>
            <a:r>
              <a:t>[Point to first insight card.]</a:t>
            </a:r>
          </a:p>
          <a:p>
            <a:r>
              <a:t>Now, the key strategic insight.</a:t>
            </a:r>
          </a:p>
          <a:p>
            <a:r>
              <a:t>When you plot accuracy against speed,</a:t>
            </a:r>
          </a:p>
          <a:p>
            <a:r>
              <a:t>only FAMSA and MUSCLE5 are Pareto-optimal.</a:t>
            </a:r>
          </a:p>
          <a:p>
            <a:r>
              <a:t>[pause]</a:t>
            </a:r>
          </a:p>
          <a:p>
            <a:r>
              <a:t>No other tool is simultaneously faster and more accurate.</a:t>
            </a:r>
          </a:p>
          <a:p>
            <a:r>
              <a:t>[pause]</a:t>
            </a:r>
          </a:p>
          <a:p>
            <a:r>
              <a:t>FAMSA matches Clustal Omega's accuracy at three times lower runtime.</a:t>
            </a:r>
          </a:p>
          <a:p>
            <a:r>
              <a:t>MUSCLE5 achieves the best accuracy of any tool</a:t>
            </a:r>
          </a:p>
          <a:p>
            <a:r>
              <a:t>at only 2.7 times FAMSA's runtime.</a:t>
            </a:r>
          </a:p>
          <a:p>
            <a:r>
              <a:t>For almost every use case, one of these two is the right answer.</a:t>
            </a:r>
          </a:p>
          <a:p/>
          <a:p>
            <a:r>
              <a:t>[Point to red card.]</a:t>
            </a:r>
          </a:p>
          <a:p>
            <a:r>
              <a:t>T-Coffee timed out on 11% of BAliBASE problems.</a:t>
            </a:r>
          </a:p>
          <a:p>
            <a:r>
              <a:t>The cause is architectural.</a:t>
            </a:r>
          </a:p>
          <a:p>
            <a:r>
              <a:t>Its pairwise library construction is O of N-squared.</a:t>
            </a:r>
          </a:p>
          <a:p>
            <a:r>
              <a:t>Once you have more than 30 to 40 sequences, runtime explodes.</a:t>
            </a:r>
          </a:p>
          <a:p/>
          <a:p>
            <a:r>
              <a:t>[Point to amber card.]</a:t>
            </a:r>
          </a:p>
          <a:p>
            <a:r>
              <a:t>And Clustal Omega — which has a reputation for scalability —</a:t>
            </a:r>
          </a:p>
          <a:p>
            <a:r>
              <a:t>failed on 78% of PREFAB4's 50-sequence problems.</a:t>
            </a:r>
          </a:p>
          <a:p>
            <a:r>
              <a:t>That is a distance matrix bottleneck.</a:t>
            </a:r>
          </a:p>
          <a:p>
            <a:r>
              <a:t>[pause]</a:t>
            </a:r>
          </a:p>
          <a:p>
            <a:r>
              <a:t>This one surprised us.</a:t>
            </a:r>
          </a:p>
          <a:p>
            <a:r>
              <a:t>And it has real implications for anyone running large-scale pipelines."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 — 11:30–12:30  (~1:00)]</a:t>
            </a:r>
          </a:p>
          <a:p/>
          <a:p>
            <a:r>
              <a:t>"Our BAliBASE results did not just hold on one dataset.</a:t>
            </a:r>
          </a:p>
          <a:p>
            <a:r>
              <a:t>[pause]</a:t>
            </a:r>
          </a:p>
          <a:p>
            <a:r>
              <a:t>We ran the same seven tools on three additional independent benchmarks.</a:t>
            </a:r>
          </a:p>
          <a:p>
            <a:r>
              <a:t>The tier structure reproduced every time.</a:t>
            </a:r>
          </a:p>
          <a:p/>
          <a:p>
            <a:r>
              <a:t>[Walk across the columns.]</a:t>
            </a:r>
          </a:p>
          <a:p>
            <a:r>
              <a:t>On OXBench — all tools scored higher overall.</a:t>
            </a:r>
          </a:p>
          <a:p>
            <a:r>
              <a:t>The families are more closely related there.</a:t>
            </a:r>
          </a:p>
          <a:p>
            <a:r>
              <a:t>But the ranking is identical.</a:t>
            </a:r>
          </a:p>
          <a:p>
            <a:r>
              <a:t>[pause]</a:t>
            </a:r>
          </a:p>
          <a:p>
            <a:r>
              <a:t>On SABRE — the spread widens.</a:t>
            </a:r>
          </a:p>
          <a:p>
            <a:r>
              <a:t>The sequences are more divergent.</a:t>
            </a:r>
          </a:p>
          <a:p>
            <a:r>
              <a:t>But the order still holds.</a:t>
            </a:r>
          </a:p>
          <a:p>
            <a:r>
              <a:t>[pause]</a:t>
            </a:r>
          </a:p>
          <a:p>
            <a:r>
              <a:t>On PREFAB4 — shown in red for the two failing tools —</a:t>
            </a:r>
          </a:p>
          <a:p>
            <a:r>
              <a:t>Clustal Omega completed only 369 of 1,681 problems.</a:t>
            </a:r>
          </a:p>
          <a:p>
            <a:r>
              <a:t>That is a 78% failure rate.</a:t>
            </a:r>
          </a:p>
          <a:p>
            <a:r>
              <a:t>T-Coffee had elevated failures too.</a:t>
            </a:r>
          </a:p>
          <a:p/>
          <a:p>
            <a:r>
              <a:t>[Point to the callout box.]</a:t>
            </a:r>
          </a:p>
          <a:p>
            <a:r>
              <a:t>The bottom line:</a:t>
            </a:r>
          </a:p>
          <a:p>
            <a:r>
              <a:t>[pause]</a:t>
            </a:r>
          </a:p>
          <a:p>
            <a:r>
              <a:t>The three-tier structure is a genuine property of these algorithms.</a:t>
            </a:r>
          </a:p>
          <a:p>
            <a:r>
              <a:t>Not an artifact of any single dataset.</a:t>
            </a:r>
          </a:p>
          <a:p>
            <a:r>
              <a:t>Whatever benchmark you use, the same rankings apply.</a:t>
            </a:r>
          </a:p>
          <a:p>
            <a:r>
              <a:t>[pause]</a:t>
            </a:r>
          </a:p>
          <a:p>
            <a:r>
              <a:t>Back to Anand for final conclusions."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 — 12:30–14:00  (~1:30)]</a:t>
            </a:r>
          </a:p>
          <a:p/>
          <a:p>
            <a:r>
              <a:t>"Let me bring this home.</a:t>
            </a:r>
          </a:p>
          <a:p>
            <a:r>
              <a:t>Three takeaways.</a:t>
            </a:r>
          </a:p>
          <a:p>
            <a:r>
              <a:t>[pause]</a:t>
            </a:r>
          </a:p>
          <a:p/>
          <a:p>
            <a:r>
              <a:t>[Point to finding 1.]</a:t>
            </a:r>
          </a:p>
          <a:p>
            <a:r>
              <a:t>First — the results are generalisable.</a:t>
            </a:r>
          </a:p>
          <a:p>
            <a:r>
              <a:t>The same three-tier ranking appeared on all four independent benchmarks.</a:t>
            </a:r>
          </a:p>
          <a:p>
            <a:r>
              <a:t>MUSCLE5 at the top.</a:t>
            </a:r>
          </a:p>
          <a:p>
            <a:r>
              <a:t>T-Coffee and L-INS-i in the middle.</a:t>
            </a:r>
          </a:p>
          <a:p>
            <a:r>
              <a:t>FFT-NS-2 and Kalign3 at the bottom.</a:t>
            </a:r>
          </a:p>
          <a:p>
            <a:r>
              <a:t>[pause]</a:t>
            </a:r>
          </a:p>
          <a:p>
            <a:r>
              <a:t>These are real properties of the algorithms.</a:t>
            </a:r>
          </a:p>
          <a:p>
            <a:r>
              <a:t>Not quirks of any single dataset.</a:t>
            </a:r>
          </a:p>
          <a:p/>
          <a:p>
            <a:r>
              <a:t>[Point to finding 2.]</a:t>
            </a:r>
          </a:p>
          <a:p>
            <a:r>
              <a:t>Second — the accuracy advantage matters most where biology is hardest.</a:t>
            </a:r>
          </a:p>
          <a:p>
            <a:r>
              <a:t>Below 20% identity,</a:t>
            </a:r>
          </a:p>
          <a:p>
            <a:r>
              <a:t>the difference is 15 extra correctly aligned pairs per 100.</a:t>
            </a:r>
          </a:p>
          <a:p>
            <a:r>
              <a:t>[pause]</a:t>
            </a:r>
          </a:p>
          <a:p>
            <a:r>
              <a:t>That is enough to change a phylogenetic tree topology.</a:t>
            </a:r>
          </a:p>
          <a:p>
            <a:r>
              <a:t>Or corrupt a homology model's active site.</a:t>
            </a:r>
          </a:p>
          <a:p>
            <a:r>
              <a:t>This is where the choice of aligner has real biological consequences.</a:t>
            </a:r>
          </a:p>
          <a:p>
            <a:r>
              <a:t>[pause]</a:t>
            </a:r>
          </a:p>
          <a:p/>
          <a:p>
            <a:r>
              <a:t>[Point to finding 3.]</a:t>
            </a:r>
          </a:p>
          <a:p>
            <a:r>
              <a:t>Third — FAMSA and MUSCLE5 are the Pareto-optimal tools.</a:t>
            </a:r>
          </a:p>
          <a:p>
            <a:r>
              <a:t>For most use cases, you should be using one of those two.</a:t>
            </a:r>
          </a:p>
          <a:p>
            <a:r>
              <a:t>Everything else is dominated on at least one dimension.</a:t>
            </a:r>
          </a:p>
          <a:p>
            <a:r>
              <a:t>[pause]</a:t>
            </a:r>
          </a:p>
          <a:p/>
          <a:p>
            <a:r>
              <a:t>[Point to recommendation grid.]</a:t>
            </a:r>
          </a:p>
          <a:p>
            <a:r>
              <a:t>Here is the quick reference.</a:t>
            </a:r>
          </a:p>
          <a:p>
            <a:r>
              <a:t>[pause]</a:t>
            </a:r>
          </a:p>
          <a:p>
            <a:r>
              <a:t>Divergent sequences — MUSCLE5 or L-INS-i.</a:t>
            </a:r>
          </a:p>
          <a:p>
            <a:r>
              <a:t>Large-scale pipelines — FAMSA.</a:t>
            </a:r>
          </a:p>
          <a:p>
            <a:r>
              <a:t>Speed-only — Kalign3.</a:t>
            </a:r>
          </a:p>
          <a:p>
            <a:r>
              <a:t>Small curated families with no time limit — T-Coffee.</a:t>
            </a:r>
          </a:p>
          <a:p/>
          <a:p>
            <a:r>
              <a:t>[PRESENTER B — 14:00–15:00  (~1:00)]</a:t>
            </a:r>
          </a:p>
          <a:p/>
          <a:p>
            <a:r>
              <a:t>"Thank you, Anand.</a:t>
            </a:r>
          </a:p>
          <a:p>
            <a:r>
              <a:t>[pause]</a:t>
            </a:r>
          </a:p>
          <a:p>
            <a:r>
              <a:t>And thank you all for your time.</a:t>
            </a:r>
          </a:p>
          <a:p>
            <a:r>
              <a:t>[pause]</a:t>
            </a:r>
          </a:p>
          <a:p>
            <a:r>
              <a:t>In one sentence:</a:t>
            </a:r>
          </a:p>
          <a:p>
            <a:r>
              <a:t>the right MSA tool depends on your sequences' identity</a:t>
            </a:r>
          </a:p>
          <a:p>
            <a:r>
              <a:t>and your pipeline's scale.</a:t>
            </a:r>
          </a:p>
          <a:p>
            <a:r>
              <a:t>And now you have the data to make that decision confidently.</a:t>
            </a:r>
          </a:p>
          <a:p>
            <a:r>
              <a:t>[pause]</a:t>
            </a:r>
          </a:p>
          <a:p>
            <a:r>
              <a:t>We are happy to take questions.</a:t>
            </a:r>
          </a:p>
          <a:p>
            <a:r>
              <a:t>You can reach us at the email addresses on the title slide.</a:t>
            </a:r>
          </a:p>
          <a:p>
            <a:r>
              <a:t>Thank you."</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88952" cy="91440"/>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606040"/>
            <a:ext cx="12188952" cy="36576"/>
          </a:xfrm>
          <a:prstGeom prst="rect">
            <a:avLst/>
          </a:prstGeom>
          <a:solidFill>
            <a:srgbClr val="81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20040"/>
            <a:ext cx="11183111" cy="2011680"/>
          </a:xfrm>
          <a:prstGeom prst="rect">
            <a:avLst/>
          </a:prstGeom>
          <a:noFill/>
        </p:spPr>
        <p:txBody>
          <a:bodyPr wrap="square">
            <a:spAutoFit/>
          </a:bodyPr>
          <a:lstStyle/>
          <a:p>
            <a:pPr algn="l"/>
            <a:r>
              <a:rPr sz="3800" b="1" i="0">
                <a:solidFill>
                  <a:srgbClr val="2D3748"/>
                </a:solidFill>
                <a:latin typeface="Calibri"/>
              </a:rPr>
              <a:t>Systematic Benchmarking of
Multiple Sequence Alignment Algorithms</a:t>
            </a:r>
          </a:p>
        </p:txBody>
      </p:sp>
      <p:sp>
        <p:nvSpPr>
          <p:cNvPr id="6" name="TextBox 5"/>
          <p:cNvSpPr txBox="1"/>
          <p:nvPr/>
        </p:nvSpPr>
        <p:spPr>
          <a:xfrm>
            <a:off x="502920" y="2697480"/>
            <a:ext cx="11183111" cy="566928"/>
          </a:xfrm>
          <a:prstGeom prst="rect">
            <a:avLst/>
          </a:prstGeom>
          <a:noFill/>
        </p:spPr>
        <p:txBody>
          <a:bodyPr wrap="square">
            <a:spAutoFit/>
          </a:bodyPr>
          <a:lstStyle/>
          <a:p>
            <a:pPr algn="l"/>
            <a:r>
              <a:rPr sz="1800" b="0" i="1">
                <a:solidFill>
                  <a:srgbClr val="00A3C4"/>
                </a:solidFill>
                <a:latin typeface="Calibri"/>
              </a:rPr>
              <a:t>Performance Across Structurally-Informed Reference Datasets</a:t>
            </a:r>
          </a:p>
        </p:txBody>
      </p:sp>
      <p:sp>
        <p:nvSpPr>
          <p:cNvPr id="7" name="TextBox 6"/>
          <p:cNvSpPr txBox="1"/>
          <p:nvPr/>
        </p:nvSpPr>
        <p:spPr>
          <a:xfrm>
            <a:off x="502920" y="3566160"/>
            <a:ext cx="11183111" cy="411480"/>
          </a:xfrm>
          <a:prstGeom prst="rect">
            <a:avLst/>
          </a:prstGeom>
          <a:noFill/>
        </p:spPr>
        <p:txBody>
          <a:bodyPr wrap="square">
            <a:spAutoFit/>
          </a:bodyPr>
          <a:lstStyle/>
          <a:p>
            <a:pPr algn="l"/>
            <a:r>
              <a:rPr sz="1500" b="1" i="0">
                <a:solidFill>
                  <a:srgbClr val="2D3748"/>
                </a:solidFill>
                <a:latin typeface="Calibri"/>
              </a:rPr>
              <a:t>Anand Meena  (Presenter A)   ·   ameen4@uic.edu</a:t>
            </a:r>
          </a:p>
        </p:txBody>
      </p:sp>
      <p:sp>
        <p:nvSpPr>
          <p:cNvPr id="8" name="TextBox 7"/>
          <p:cNvSpPr txBox="1"/>
          <p:nvPr/>
        </p:nvSpPr>
        <p:spPr>
          <a:xfrm>
            <a:off x="502920" y="3977639"/>
            <a:ext cx="11183111" cy="411480"/>
          </a:xfrm>
          <a:prstGeom prst="rect">
            <a:avLst/>
          </a:prstGeom>
          <a:noFill/>
        </p:spPr>
        <p:txBody>
          <a:bodyPr wrap="square">
            <a:spAutoFit/>
          </a:bodyPr>
          <a:lstStyle/>
          <a:p>
            <a:pPr algn="l"/>
            <a:r>
              <a:rPr sz="1500" b="1" i="0">
                <a:solidFill>
                  <a:srgbClr val="2D3748"/>
                </a:solidFill>
                <a:latin typeface="Calibri"/>
              </a:rPr>
              <a:t>Shruthi Kodati  (Presenter B)   ·   skoda13@uic.edu</a:t>
            </a:r>
          </a:p>
        </p:txBody>
      </p:sp>
      <p:sp>
        <p:nvSpPr>
          <p:cNvPr id="9" name="TextBox 8"/>
          <p:cNvSpPr txBox="1"/>
          <p:nvPr/>
        </p:nvSpPr>
        <p:spPr>
          <a:xfrm>
            <a:off x="502920" y="4645152"/>
            <a:ext cx="11183111" cy="347472"/>
          </a:xfrm>
          <a:prstGeom prst="rect">
            <a:avLst/>
          </a:prstGeom>
          <a:noFill/>
        </p:spPr>
        <p:txBody>
          <a:bodyPr wrap="square">
            <a:spAutoFit/>
          </a:bodyPr>
          <a:lstStyle/>
          <a:p>
            <a:pPr algn="l"/>
            <a:r>
              <a:rPr sz="1200" b="0" i="0">
                <a:solidFill>
                  <a:srgbClr val="718096"/>
                </a:solidFill>
                <a:latin typeface="Calibri"/>
              </a:rPr>
              <a:t>Department of Computer Science  ·  University of Illinois at Chicago  ·  Spring 2026</a:t>
            </a:r>
          </a:p>
        </p:txBody>
      </p:sp>
      <p:sp>
        <p:nvSpPr>
          <p:cNvPr id="10" name="Rectangle 9"/>
          <p:cNvSpPr/>
          <p:nvPr/>
        </p:nvSpPr>
        <p:spPr>
          <a:xfrm>
            <a:off x="502920" y="5166360"/>
            <a:ext cx="5120640" cy="347472"/>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5193792"/>
            <a:ext cx="5120640" cy="292608"/>
          </a:xfrm>
          <a:prstGeom prst="rect">
            <a:avLst/>
          </a:prstGeom>
          <a:noFill/>
        </p:spPr>
        <p:txBody>
          <a:bodyPr wrap="square">
            <a:spAutoFit/>
          </a:bodyPr>
          <a:lstStyle/>
          <a:p>
            <a:pPr algn="ctr"/>
            <a:r>
              <a:rPr sz="1000" b="0" i="0">
                <a:solidFill>
                  <a:srgbClr val="00A3C4"/>
                </a:solidFill>
                <a:latin typeface="Calibri"/>
              </a:rPr>
              <a:t>Presenter A  —  Slides 1, 2, 3, 7, 10</a:t>
            </a:r>
          </a:p>
        </p:txBody>
      </p:sp>
      <p:sp>
        <p:nvSpPr>
          <p:cNvPr id="12" name="Rectangle 11"/>
          <p:cNvSpPr/>
          <p:nvPr/>
        </p:nvSpPr>
        <p:spPr>
          <a:xfrm>
            <a:off x="5852159" y="5166360"/>
            <a:ext cx="5120640" cy="347472"/>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59" y="5193792"/>
            <a:ext cx="5120640" cy="292608"/>
          </a:xfrm>
          <a:prstGeom prst="rect">
            <a:avLst/>
          </a:prstGeom>
          <a:noFill/>
        </p:spPr>
        <p:txBody>
          <a:bodyPr wrap="square">
            <a:spAutoFit/>
          </a:bodyPr>
          <a:lstStyle/>
          <a:p>
            <a:pPr algn="ctr"/>
            <a:r>
              <a:rPr sz="1000" b="0" i="0">
                <a:solidFill>
                  <a:srgbClr val="00A3C4"/>
                </a:solidFill>
                <a:latin typeface="Calibri"/>
              </a:rPr>
              <a:t>Presenter B  —  Slides 4, 5, 6, 8, 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83111" cy="658368"/>
          </a:xfrm>
          <a:prstGeom prst="rect">
            <a:avLst/>
          </a:prstGeom>
          <a:noFill/>
        </p:spPr>
        <p:txBody>
          <a:bodyPr wrap="square">
            <a:spAutoFit/>
          </a:bodyPr>
          <a:lstStyle/>
          <a:p>
            <a:pPr algn="l"/>
            <a:r>
              <a:rPr sz="2400" b="1" i="0">
                <a:solidFill>
                  <a:srgbClr val="2D3748"/>
                </a:solidFill>
                <a:latin typeface="Calibri"/>
              </a:rPr>
              <a:t>Introduction &amp; Motivation</a:t>
            </a:r>
          </a:p>
        </p:txBody>
      </p:sp>
      <p:sp>
        <p:nvSpPr>
          <p:cNvPr id="4" name="TextBox 3"/>
          <p:cNvSpPr txBox="1"/>
          <p:nvPr/>
        </p:nvSpPr>
        <p:spPr>
          <a:xfrm>
            <a:off x="502920" y="749808"/>
            <a:ext cx="10725911" cy="329184"/>
          </a:xfrm>
          <a:prstGeom prst="rect">
            <a:avLst/>
          </a:prstGeom>
          <a:noFill/>
        </p:spPr>
        <p:txBody>
          <a:bodyPr wrap="square">
            <a:spAutoFit/>
          </a:bodyPr>
          <a:lstStyle/>
          <a:p>
            <a:pPr algn="l"/>
            <a:r>
              <a:rPr sz="1200" b="0" i="1">
                <a:solidFill>
                  <a:srgbClr val="00A3C4"/>
                </a:solidFill>
                <a:latin typeface="Calibri"/>
              </a:rPr>
              <a:t>Why alignment quality matters — and what makes it hard</a:t>
            </a:r>
          </a:p>
        </p:txBody>
      </p:sp>
      <p:sp>
        <p:nvSpPr>
          <p:cNvPr id="5" name="Rectangle 4"/>
          <p:cNvSpPr/>
          <p:nvPr/>
        </p:nvSpPr>
        <p:spPr>
          <a:xfrm>
            <a:off x="0" y="6492240"/>
            <a:ext cx="12188952" cy="36576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3"/>
            <a:ext cx="9144000" cy="274320"/>
          </a:xfrm>
          <a:prstGeom prst="rect">
            <a:avLst/>
          </a:prstGeom>
          <a:noFill/>
        </p:spPr>
        <p:txBody>
          <a:bodyPr wrap="square">
            <a:spAutoFit/>
          </a:bodyPr>
          <a:lstStyle/>
          <a:p>
            <a:pPr algn="l"/>
            <a:r>
              <a:rPr sz="900" b="0" i="0">
                <a:solidFill>
                  <a:srgbClr val="718096"/>
                </a:solidFill>
                <a:latin typeface="Calibri"/>
              </a:rPr>
              <a:t>CS 502 — Computational Biology  |  UIC  |  Spring 2026</a:t>
            </a:r>
          </a:p>
        </p:txBody>
      </p:sp>
      <p:sp>
        <p:nvSpPr>
          <p:cNvPr id="8" name="TextBox 7"/>
          <p:cNvSpPr txBox="1"/>
          <p:nvPr/>
        </p:nvSpPr>
        <p:spPr>
          <a:xfrm>
            <a:off x="11045952" y="6547103"/>
            <a:ext cx="640080" cy="274320"/>
          </a:xfrm>
          <a:prstGeom prst="rect">
            <a:avLst/>
          </a:prstGeom>
          <a:noFill/>
        </p:spPr>
        <p:txBody>
          <a:bodyPr wrap="square">
            <a:spAutoFit/>
          </a:bodyPr>
          <a:lstStyle/>
          <a:p>
            <a:pPr algn="r"/>
            <a:r>
              <a:rPr sz="900" b="1" i="0">
                <a:solidFill>
                  <a:srgbClr val="00A3C4"/>
                </a:solidFill>
                <a:latin typeface="Calibri"/>
              </a:rPr>
              <a:t>2 / 10</a:t>
            </a:r>
          </a:p>
        </p:txBody>
      </p:sp>
      <p:sp>
        <p:nvSpPr>
          <p:cNvPr id="9" name="TextBox 8"/>
          <p:cNvSpPr txBox="1"/>
          <p:nvPr/>
        </p:nvSpPr>
        <p:spPr>
          <a:xfrm>
            <a:off x="502920" y="1143000"/>
            <a:ext cx="5120640" cy="347472"/>
          </a:xfrm>
          <a:prstGeom prst="rect">
            <a:avLst/>
          </a:prstGeom>
          <a:noFill/>
        </p:spPr>
        <p:txBody>
          <a:bodyPr wrap="square">
            <a:spAutoFit/>
          </a:bodyPr>
          <a:lstStyle/>
          <a:p>
            <a:pPr algn="l"/>
            <a:r>
              <a:rPr sz="1400" b="1" i="0">
                <a:solidFill>
                  <a:srgbClr val="00A3C4"/>
                </a:solidFill>
                <a:latin typeface="Calibri"/>
              </a:rPr>
              <a:t>The core problem</a:t>
            </a:r>
          </a:p>
        </p:txBody>
      </p:sp>
      <p:sp>
        <p:nvSpPr>
          <p:cNvPr id="10" name="TextBox 9"/>
          <p:cNvSpPr txBox="1"/>
          <p:nvPr/>
        </p:nvSpPr>
        <p:spPr>
          <a:xfrm>
            <a:off x="0" y="1554480"/>
            <a:ext cx="5120640" cy="502920"/>
          </a:xfrm>
          <a:prstGeom prst="rect">
            <a:avLst/>
          </a:prstGeom>
          <a:noFill/>
        </p:spPr>
        <p:txBody>
          <a:bodyPr wrap="square">
            <a:spAutoFit/>
          </a:bodyPr>
          <a:lstStyle/>
          <a:p>
            <a:pPr algn="l"/>
            <a:r>
              <a:rPr sz="1200" b="0" i="0">
                <a:solidFill>
                  <a:srgbClr val="2D3748"/>
                </a:solidFill>
                <a:latin typeface="Calibri"/>
              </a:rPr>
              <a:t>▸  Multiple sequence alignment (MSA) is the first step in phylogenetics, homology modelling, and conserved-domain detection</a:t>
            </a:r>
          </a:p>
        </p:txBody>
      </p:sp>
      <p:sp>
        <p:nvSpPr>
          <p:cNvPr id="11" name="TextBox 10"/>
          <p:cNvSpPr txBox="1"/>
          <p:nvPr/>
        </p:nvSpPr>
        <p:spPr>
          <a:xfrm>
            <a:off x="0" y="2057400"/>
            <a:ext cx="5120640" cy="502920"/>
          </a:xfrm>
          <a:prstGeom prst="rect">
            <a:avLst/>
          </a:prstGeom>
          <a:noFill/>
        </p:spPr>
        <p:txBody>
          <a:bodyPr wrap="square">
            <a:spAutoFit/>
          </a:bodyPr>
          <a:lstStyle/>
          <a:p>
            <a:pPr algn="l"/>
            <a:r>
              <a:rPr sz="1200" b="0" i="0">
                <a:solidFill>
                  <a:srgbClr val="2D3748"/>
                </a:solidFill>
                <a:latin typeface="Calibri"/>
              </a:rPr>
              <a:t>▸  Errors here propagate silently — the pipeline does not crash, it just produces wrong biology</a:t>
            </a:r>
          </a:p>
        </p:txBody>
      </p:sp>
      <p:sp>
        <p:nvSpPr>
          <p:cNvPr id="12" name="TextBox 11"/>
          <p:cNvSpPr txBox="1"/>
          <p:nvPr/>
        </p:nvSpPr>
        <p:spPr>
          <a:xfrm>
            <a:off x="0" y="2560320"/>
            <a:ext cx="5120640" cy="502920"/>
          </a:xfrm>
          <a:prstGeom prst="rect">
            <a:avLst/>
          </a:prstGeom>
          <a:noFill/>
        </p:spPr>
        <p:txBody>
          <a:bodyPr wrap="square">
            <a:spAutoFit/>
          </a:bodyPr>
          <a:lstStyle/>
          <a:p>
            <a:pPr algn="l"/>
            <a:r>
              <a:rPr sz="1200" b="0" i="0">
                <a:solidFill>
                  <a:srgbClr val="2D3748"/>
                </a:solidFill>
                <a:latin typeface="Calibri"/>
              </a:rPr>
              <a:t>▸  A misaligned column can shift a phylogenetic branch, corrupt a drug-binding site, or erase a conserved domain</a:t>
            </a:r>
          </a:p>
        </p:txBody>
      </p:sp>
      <p:sp>
        <p:nvSpPr>
          <p:cNvPr id="13" name="Rectangle 12"/>
          <p:cNvSpPr/>
          <p:nvPr/>
        </p:nvSpPr>
        <p:spPr>
          <a:xfrm>
            <a:off x="502920" y="3154680"/>
            <a:ext cx="11183111" cy="27432"/>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264408"/>
            <a:ext cx="5120640" cy="329184"/>
          </a:xfrm>
          <a:prstGeom prst="rect">
            <a:avLst/>
          </a:prstGeom>
          <a:noFill/>
        </p:spPr>
        <p:txBody>
          <a:bodyPr wrap="square">
            <a:spAutoFit/>
          </a:bodyPr>
          <a:lstStyle/>
          <a:p>
            <a:pPr algn="l"/>
            <a:r>
              <a:rPr sz="1400" b="1" i="0">
                <a:solidFill>
                  <a:srgbClr val="00A3C4"/>
                </a:solidFill>
                <a:latin typeface="Calibri"/>
              </a:rPr>
              <a:t>Our goal</a:t>
            </a:r>
          </a:p>
        </p:txBody>
      </p:sp>
      <p:sp>
        <p:nvSpPr>
          <p:cNvPr id="15" name="TextBox 14"/>
          <p:cNvSpPr txBox="1"/>
          <p:nvPr/>
        </p:nvSpPr>
        <p:spPr>
          <a:xfrm>
            <a:off x="502920" y="3630168"/>
            <a:ext cx="5120640" cy="749808"/>
          </a:xfrm>
          <a:prstGeom prst="rect">
            <a:avLst/>
          </a:prstGeom>
          <a:noFill/>
        </p:spPr>
        <p:txBody>
          <a:bodyPr wrap="square">
            <a:spAutoFit/>
          </a:bodyPr>
          <a:lstStyle/>
          <a:p>
            <a:pPr algn="l"/>
            <a:r>
              <a:rPr sz="1200" b="0" i="0">
                <a:solidFill>
                  <a:srgbClr val="2D3748"/>
                </a:solidFill>
                <a:latin typeface="Calibri"/>
              </a:rPr>
              <a:t>Conduct a rigorous multi-dataset comparison of seven MSA tools with proper statistical testing — to give practitioners data-backed guidance on tool selection.</a:t>
            </a:r>
          </a:p>
        </p:txBody>
      </p:sp>
      <p:sp>
        <p:nvSpPr>
          <p:cNvPr id="16" name="TextBox 15"/>
          <p:cNvSpPr txBox="1"/>
          <p:nvPr/>
        </p:nvSpPr>
        <p:spPr>
          <a:xfrm>
            <a:off x="6080760" y="1143000"/>
            <a:ext cx="5605272" cy="347472"/>
          </a:xfrm>
          <a:prstGeom prst="rect">
            <a:avLst/>
          </a:prstGeom>
          <a:noFill/>
        </p:spPr>
        <p:txBody>
          <a:bodyPr wrap="square">
            <a:spAutoFit/>
          </a:bodyPr>
          <a:lstStyle/>
          <a:p>
            <a:pPr algn="l"/>
            <a:r>
              <a:rPr sz="1400" b="1" i="0">
                <a:solidFill>
                  <a:srgbClr val="00A3C4"/>
                </a:solidFill>
                <a:latin typeface="Calibri"/>
              </a:rPr>
              <a:t>Three algorithm families</a:t>
            </a:r>
          </a:p>
        </p:txBody>
      </p:sp>
      <p:sp>
        <p:nvSpPr>
          <p:cNvPr id="17" name="Rectangle 16"/>
          <p:cNvSpPr/>
          <p:nvPr/>
        </p:nvSpPr>
        <p:spPr>
          <a:xfrm>
            <a:off x="6080760" y="1600200"/>
            <a:ext cx="5605272" cy="329184"/>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1636776"/>
            <a:ext cx="5422392" cy="256032"/>
          </a:xfrm>
          <a:prstGeom prst="rect">
            <a:avLst/>
          </a:prstGeom>
          <a:noFill/>
        </p:spPr>
        <p:txBody>
          <a:bodyPr wrap="square">
            <a:spAutoFit/>
          </a:bodyPr>
          <a:lstStyle/>
          <a:p>
            <a:pPr algn="l"/>
            <a:r>
              <a:rPr sz="1300" b="1" i="0">
                <a:solidFill>
                  <a:srgbClr val="FFFFFF"/>
                </a:solidFill>
                <a:latin typeface="Calibri"/>
              </a:rPr>
              <a:t>Progressive</a:t>
            </a:r>
          </a:p>
        </p:txBody>
      </p:sp>
      <p:sp>
        <p:nvSpPr>
          <p:cNvPr id="19" name="Rectangle 18"/>
          <p:cNvSpPr/>
          <p:nvPr/>
        </p:nvSpPr>
        <p:spPr>
          <a:xfrm>
            <a:off x="6080760" y="1929384"/>
            <a:ext cx="5605272" cy="1170432"/>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0488" y="2002536"/>
            <a:ext cx="5422392" cy="292608"/>
          </a:xfrm>
          <a:prstGeom prst="rect">
            <a:avLst/>
          </a:prstGeom>
          <a:noFill/>
        </p:spPr>
        <p:txBody>
          <a:bodyPr wrap="square">
            <a:spAutoFit/>
          </a:bodyPr>
          <a:lstStyle/>
          <a:p>
            <a:pPr algn="l"/>
            <a:r>
              <a:rPr sz="1200" b="1" i="0">
                <a:solidFill>
                  <a:srgbClr val="00A3C4"/>
                </a:solidFill>
                <a:latin typeface="Calibri"/>
              </a:rPr>
              <a:t>Clustal Omega · FAMSA · Kalign3</a:t>
            </a:r>
          </a:p>
        </p:txBody>
      </p:sp>
      <p:sp>
        <p:nvSpPr>
          <p:cNvPr id="21" name="TextBox 20"/>
          <p:cNvSpPr txBox="1"/>
          <p:nvPr/>
        </p:nvSpPr>
        <p:spPr>
          <a:xfrm>
            <a:off x="6190488" y="2313432"/>
            <a:ext cx="5422392" cy="658368"/>
          </a:xfrm>
          <a:prstGeom prst="rect">
            <a:avLst/>
          </a:prstGeom>
          <a:noFill/>
        </p:spPr>
        <p:txBody>
          <a:bodyPr wrap="square">
            <a:spAutoFit/>
          </a:bodyPr>
          <a:lstStyle/>
          <a:p>
            <a:pPr algn="l"/>
            <a:r>
              <a:rPr sz="1100" b="0" i="0">
                <a:solidFill>
                  <a:srgbClr val="718096"/>
                </a:solidFill>
                <a:latin typeface="Calibri"/>
              </a:rPr>
              <a:t>Build guide tree, align once.
Fast but commits to early errors.</a:t>
            </a:r>
          </a:p>
        </p:txBody>
      </p:sp>
      <p:sp>
        <p:nvSpPr>
          <p:cNvPr id="22" name="Rectangle 21"/>
          <p:cNvSpPr/>
          <p:nvPr/>
        </p:nvSpPr>
        <p:spPr>
          <a:xfrm>
            <a:off x="6080760" y="3172968"/>
            <a:ext cx="5605272" cy="32918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0488" y="3209544"/>
            <a:ext cx="5422392" cy="256032"/>
          </a:xfrm>
          <a:prstGeom prst="rect">
            <a:avLst/>
          </a:prstGeom>
          <a:noFill/>
        </p:spPr>
        <p:txBody>
          <a:bodyPr wrap="square">
            <a:spAutoFit/>
          </a:bodyPr>
          <a:lstStyle/>
          <a:p>
            <a:pPr algn="l"/>
            <a:r>
              <a:rPr sz="1300" b="1" i="0">
                <a:solidFill>
                  <a:srgbClr val="FFFFFF"/>
                </a:solidFill>
                <a:latin typeface="Calibri"/>
              </a:rPr>
              <a:t>Iterative Refinement</a:t>
            </a:r>
          </a:p>
        </p:txBody>
      </p:sp>
      <p:sp>
        <p:nvSpPr>
          <p:cNvPr id="24" name="Rectangle 23"/>
          <p:cNvSpPr/>
          <p:nvPr/>
        </p:nvSpPr>
        <p:spPr>
          <a:xfrm>
            <a:off x="6080760" y="3502151"/>
            <a:ext cx="5605272" cy="1170432"/>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0488" y="3575303"/>
            <a:ext cx="5422392" cy="292608"/>
          </a:xfrm>
          <a:prstGeom prst="rect">
            <a:avLst/>
          </a:prstGeom>
          <a:noFill/>
        </p:spPr>
        <p:txBody>
          <a:bodyPr wrap="square">
            <a:spAutoFit/>
          </a:bodyPr>
          <a:lstStyle/>
          <a:p>
            <a:pPr algn="l"/>
            <a:r>
              <a:rPr sz="1200" b="1" i="0">
                <a:solidFill>
                  <a:srgbClr val="27AE60"/>
                </a:solidFill>
                <a:latin typeface="Calibri"/>
              </a:rPr>
              <a:t>MAFFT L-INS-i · MUSCLE5</a:t>
            </a:r>
          </a:p>
        </p:txBody>
      </p:sp>
      <p:sp>
        <p:nvSpPr>
          <p:cNvPr id="26" name="TextBox 25"/>
          <p:cNvSpPr txBox="1"/>
          <p:nvPr/>
        </p:nvSpPr>
        <p:spPr>
          <a:xfrm>
            <a:off x="6190488" y="3886200"/>
            <a:ext cx="5422392" cy="658368"/>
          </a:xfrm>
          <a:prstGeom prst="rect">
            <a:avLst/>
          </a:prstGeom>
          <a:noFill/>
        </p:spPr>
        <p:txBody>
          <a:bodyPr wrap="square">
            <a:spAutoFit/>
          </a:bodyPr>
          <a:lstStyle/>
          <a:p>
            <a:pPr algn="l"/>
            <a:r>
              <a:rPr sz="1100" b="0" i="0">
                <a:solidFill>
                  <a:srgbClr val="718096"/>
                </a:solidFill>
                <a:latin typeface="Calibri"/>
              </a:rPr>
              <a:t>Repeatedly realign to escape optima.
Slower, more accurate.</a:t>
            </a:r>
          </a:p>
        </p:txBody>
      </p:sp>
      <p:sp>
        <p:nvSpPr>
          <p:cNvPr id="27" name="Rectangle 26"/>
          <p:cNvSpPr/>
          <p:nvPr/>
        </p:nvSpPr>
        <p:spPr>
          <a:xfrm>
            <a:off x="6080760" y="4745736"/>
            <a:ext cx="5605272" cy="329184"/>
          </a:xfrm>
          <a:prstGeom prst="rect">
            <a:avLst/>
          </a:prstGeom>
          <a:solidFill>
            <a:srgbClr val="D3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0488" y="4782312"/>
            <a:ext cx="5422392" cy="256032"/>
          </a:xfrm>
          <a:prstGeom prst="rect">
            <a:avLst/>
          </a:prstGeom>
          <a:noFill/>
        </p:spPr>
        <p:txBody>
          <a:bodyPr wrap="square">
            <a:spAutoFit/>
          </a:bodyPr>
          <a:lstStyle/>
          <a:p>
            <a:pPr algn="l"/>
            <a:r>
              <a:rPr sz="1300" b="1" i="0">
                <a:solidFill>
                  <a:srgbClr val="FFFFFF"/>
                </a:solidFill>
                <a:latin typeface="Calibri"/>
              </a:rPr>
              <a:t>Consistency-Based</a:t>
            </a:r>
          </a:p>
        </p:txBody>
      </p:sp>
      <p:sp>
        <p:nvSpPr>
          <p:cNvPr id="29" name="Rectangle 28"/>
          <p:cNvSpPr/>
          <p:nvPr/>
        </p:nvSpPr>
        <p:spPr>
          <a:xfrm>
            <a:off x="6080760" y="5074920"/>
            <a:ext cx="5605272" cy="1170432"/>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90488" y="5148072"/>
            <a:ext cx="5422392" cy="292608"/>
          </a:xfrm>
          <a:prstGeom prst="rect">
            <a:avLst/>
          </a:prstGeom>
          <a:noFill/>
        </p:spPr>
        <p:txBody>
          <a:bodyPr wrap="square">
            <a:spAutoFit/>
          </a:bodyPr>
          <a:lstStyle/>
          <a:p>
            <a:pPr algn="l"/>
            <a:r>
              <a:rPr sz="1200" b="1" i="0">
                <a:solidFill>
                  <a:srgbClr val="D37800"/>
                </a:solidFill>
                <a:latin typeface="Calibri"/>
              </a:rPr>
              <a:t>T-Coffee</a:t>
            </a:r>
          </a:p>
        </p:txBody>
      </p:sp>
      <p:sp>
        <p:nvSpPr>
          <p:cNvPr id="31" name="TextBox 30"/>
          <p:cNvSpPr txBox="1"/>
          <p:nvPr/>
        </p:nvSpPr>
        <p:spPr>
          <a:xfrm>
            <a:off x="6190488" y="5458968"/>
            <a:ext cx="5422392" cy="658368"/>
          </a:xfrm>
          <a:prstGeom prst="rect">
            <a:avLst/>
          </a:prstGeom>
          <a:noFill/>
        </p:spPr>
        <p:txBody>
          <a:bodyPr wrap="square">
            <a:spAutoFit/>
          </a:bodyPr>
          <a:lstStyle/>
          <a:p>
            <a:pPr algn="l"/>
            <a:r>
              <a:rPr sz="1100" b="0" i="0">
                <a:solidFill>
                  <a:srgbClr val="718096"/>
                </a:solidFill>
                <a:latin typeface="Calibri"/>
              </a:rPr>
              <a:t>Pairwise library → global scoring.
Highest accuracy, O(N²)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83111" cy="658368"/>
          </a:xfrm>
          <a:prstGeom prst="rect">
            <a:avLst/>
          </a:prstGeom>
          <a:noFill/>
        </p:spPr>
        <p:txBody>
          <a:bodyPr wrap="square">
            <a:spAutoFit/>
          </a:bodyPr>
          <a:lstStyle/>
          <a:p>
            <a:pPr algn="l"/>
            <a:r>
              <a:rPr sz="2400" b="1" i="0">
                <a:solidFill>
                  <a:srgbClr val="2D3748"/>
                </a:solidFill>
                <a:latin typeface="Calibri"/>
              </a:rPr>
              <a:t>Datasets &amp; Structural Ground Truth</a:t>
            </a:r>
          </a:p>
        </p:txBody>
      </p:sp>
      <p:sp>
        <p:nvSpPr>
          <p:cNvPr id="4" name="TextBox 3"/>
          <p:cNvSpPr txBox="1"/>
          <p:nvPr/>
        </p:nvSpPr>
        <p:spPr>
          <a:xfrm>
            <a:off x="502920" y="749808"/>
            <a:ext cx="10725911" cy="329184"/>
          </a:xfrm>
          <a:prstGeom prst="rect">
            <a:avLst/>
          </a:prstGeom>
          <a:noFill/>
        </p:spPr>
        <p:txBody>
          <a:bodyPr wrap="square">
            <a:spAutoFit/>
          </a:bodyPr>
          <a:lstStyle/>
          <a:p>
            <a:pPr algn="l"/>
            <a:r>
              <a:rPr sz="1200" b="0" i="1">
                <a:solidFill>
                  <a:srgbClr val="00A3C4"/>
                </a:solidFill>
                <a:latin typeface="Calibri"/>
              </a:rPr>
              <a:t>2,885 protein families across four independently curated benchmarks</a:t>
            </a:r>
          </a:p>
        </p:txBody>
      </p:sp>
      <p:sp>
        <p:nvSpPr>
          <p:cNvPr id="5" name="Rectangle 4"/>
          <p:cNvSpPr/>
          <p:nvPr/>
        </p:nvSpPr>
        <p:spPr>
          <a:xfrm>
            <a:off x="0" y="6492240"/>
            <a:ext cx="12188952" cy="36576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3"/>
            <a:ext cx="9144000" cy="274320"/>
          </a:xfrm>
          <a:prstGeom prst="rect">
            <a:avLst/>
          </a:prstGeom>
          <a:noFill/>
        </p:spPr>
        <p:txBody>
          <a:bodyPr wrap="square">
            <a:spAutoFit/>
          </a:bodyPr>
          <a:lstStyle/>
          <a:p>
            <a:pPr algn="l"/>
            <a:r>
              <a:rPr sz="900" b="0" i="0">
                <a:solidFill>
                  <a:srgbClr val="718096"/>
                </a:solidFill>
                <a:latin typeface="Calibri"/>
              </a:rPr>
              <a:t>CS 502 — Computational Biology  |  UIC  |  Spring 2026</a:t>
            </a:r>
          </a:p>
        </p:txBody>
      </p:sp>
      <p:sp>
        <p:nvSpPr>
          <p:cNvPr id="8" name="TextBox 7"/>
          <p:cNvSpPr txBox="1"/>
          <p:nvPr/>
        </p:nvSpPr>
        <p:spPr>
          <a:xfrm>
            <a:off x="11045952" y="6547103"/>
            <a:ext cx="640080" cy="274320"/>
          </a:xfrm>
          <a:prstGeom prst="rect">
            <a:avLst/>
          </a:prstGeom>
          <a:noFill/>
        </p:spPr>
        <p:txBody>
          <a:bodyPr wrap="square">
            <a:spAutoFit/>
          </a:bodyPr>
          <a:lstStyle/>
          <a:p>
            <a:pPr algn="r"/>
            <a:r>
              <a:rPr sz="900" b="1" i="0">
                <a:solidFill>
                  <a:srgbClr val="00A3C4"/>
                </a:solidFill>
                <a:latin typeface="Calibri"/>
              </a:rPr>
              <a:t>3 / 10</a:t>
            </a:r>
          </a:p>
        </p:txBody>
      </p:sp>
      <p:sp>
        <p:nvSpPr>
          <p:cNvPr id="9" name="Rectangle 8"/>
          <p:cNvSpPr/>
          <p:nvPr/>
        </p:nvSpPr>
        <p:spPr>
          <a:xfrm>
            <a:off x="502920" y="1143000"/>
            <a:ext cx="5394960" cy="2450592"/>
          </a:xfrm>
          <a:prstGeom prst="rect">
            <a:avLst/>
          </a:prstGeom>
          <a:solidFill>
            <a:srgbClr val="E8F8FB"/>
          </a:solidFill>
          <a:ln w="508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143000"/>
            <a:ext cx="5394960" cy="54864"/>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271016"/>
            <a:ext cx="3474720" cy="347472"/>
          </a:xfrm>
          <a:prstGeom prst="rect">
            <a:avLst/>
          </a:prstGeom>
          <a:noFill/>
        </p:spPr>
        <p:txBody>
          <a:bodyPr wrap="square">
            <a:spAutoFit/>
          </a:bodyPr>
          <a:lstStyle/>
          <a:p>
            <a:pPr algn="l"/>
            <a:r>
              <a:rPr sz="1500" b="1" i="0">
                <a:solidFill>
                  <a:srgbClr val="00A3C4"/>
                </a:solidFill>
                <a:latin typeface="Calibri"/>
              </a:rPr>
              <a:t>BAliBASE 3.0</a:t>
            </a:r>
          </a:p>
        </p:txBody>
      </p:sp>
      <p:sp>
        <p:nvSpPr>
          <p:cNvPr id="12" name="TextBox 11"/>
          <p:cNvSpPr txBox="1"/>
          <p:nvPr/>
        </p:nvSpPr>
        <p:spPr>
          <a:xfrm>
            <a:off x="640080" y="1618488"/>
            <a:ext cx="3474720" cy="347472"/>
          </a:xfrm>
          <a:prstGeom prst="rect">
            <a:avLst/>
          </a:prstGeom>
          <a:noFill/>
        </p:spPr>
        <p:txBody>
          <a:bodyPr wrap="square">
            <a:spAutoFit/>
          </a:bodyPr>
          <a:lstStyle/>
          <a:p>
            <a:pPr algn="l"/>
            <a:r>
              <a:rPr sz="1300" b="0" i="0">
                <a:solidFill>
                  <a:srgbClr val="718096"/>
                </a:solidFill>
                <a:latin typeface="Calibri"/>
              </a:rPr>
              <a:t>386 families</a:t>
            </a:r>
          </a:p>
        </p:txBody>
      </p:sp>
      <p:sp>
        <p:nvSpPr>
          <p:cNvPr id="13" name="TextBox 12"/>
          <p:cNvSpPr txBox="1"/>
          <p:nvPr/>
        </p:nvSpPr>
        <p:spPr>
          <a:xfrm>
            <a:off x="640080" y="2002536"/>
            <a:ext cx="5138928" cy="1463040"/>
          </a:xfrm>
          <a:prstGeom prst="rect">
            <a:avLst/>
          </a:prstGeom>
          <a:noFill/>
        </p:spPr>
        <p:txBody>
          <a:bodyPr wrap="square">
            <a:spAutoFit/>
          </a:bodyPr>
          <a:lstStyle/>
          <a:p>
            <a:pPr algn="l"/>
            <a:r>
              <a:rPr sz="1150" b="0" i="0">
                <a:solidFill>
                  <a:srgbClr val="2D3748"/>
                </a:solidFill>
                <a:latin typeface="Calibri"/>
              </a:rPr>
              <a:t>The community gold standard. Six reference sets spanning low-identity families, terminal extensions, transmembrane proteins, and circular permutations. Manually curated by structural biologists.</a:t>
            </a:r>
          </a:p>
        </p:txBody>
      </p:sp>
      <p:sp>
        <p:nvSpPr>
          <p:cNvPr id="14" name="Rectangle 13"/>
          <p:cNvSpPr/>
          <p:nvPr/>
        </p:nvSpPr>
        <p:spPr>
          <a:xfrm>
            <a:off x="6263640" y="1143000"/>
            <a:ext cx="5394960" cy="2450592"/>
          </a:xfrm>
          <a:prstGeom prst="rect">
            <a:avLst/>
          </a:prstGeom>
          <a:solidFill>
            <a:srgbClr val="E8F8FB"/>
          </a:solidFill>
          <a:ln w="508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143000"/>
            <a:ext cx="5394960" cy="54864"/>
          </a:xfrm>
          <a:prstGeom prst="rect">
            <a:avLst/>
          </a:prstGeom>
          <a:solidFill>
            <a:srgbClr val="007A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271016"/>
            <a:ext cx="3474720" cy="347472"/>
          </a:xfrm>
          <a:prstGeom prst="rect">
            <a:avLst/>
          </a:prstGeom>
          <a:noFill/>
        </p:spPr>
        <p:txBody>
          <a:bodyPr wrap="square">
            <a:spAutoFit/>
          </a:bodyPr>
          <a:lstStyle/>
          <a:p>
            <a:pPr algn="l"/>
            <a:r>
              <a:rPr sz="1500" b="1" i="0">
                <a:solidFill>
                  <a:srgbClr val="007A94"/>
                </a:solidFill>
                <a:latin typeface="Calibri"/>
              </a:rPr>
              <a:t>OXBench</a:t>
            </a:r>
          </a:p>
        </p:txBody>
      </p:sp>
      <p:sp>
        <p:nvSpPr>
          <p:cNvPr id="17" name="TextBox 16"/>
          <p:cNvSpPr txBox="1"/>
          <p:nvPr/>
        </p:nvSpPr>
        <p:spPr>
          <a:xfrm>
            <a:off x="6400800" y="1618488"/>
            <a:ext cx="3474720" cy="347472"/>
          </a:xfrm>
          <a:prstGeom prst="rect">
            <a:avLst/>
          </a:prstGeom>
          <a:noFill/>
        </p:spPr>
        <p:txBody>
          <a:bodyPr wrap="square">
            <a:spAutoFit/>
          </a:bodyPr>
          <a:lstStyle/>
          <a:p>
            <a:pPr algn="l"/>
            <a:r>
              <a:rPr sz="1300" b="0" i="0">
                <a:solidFill>
                  <a:srgbClr val="718096"/>
                </a:solidFill>
                <a:latin typeface="Calibri"/>
              </a:rPr>
              <a:t>395 families</a:t>
            </a:r>
          </a:p>
        </p:txBody>
      </p:sp>
      <p:sp>
        <p:nvSpPr>
          <p:cNvPr id="18" name="TextBox 17"/>
          <p:cNvSpPr txBox="1"/>
          <p:nvPr/>
        </p:nvSpPr>
        <p:spPr>
          <a:xfrm>
            <a:off x="6400800" y="2002536"/>
            <a:ext cx="5138928" cy="1463040"/>
          </a:xfrm>
          <a:prstGeom prst="rect">
            <a:avLst/>
          </a:prstGeom>
          <a:noFill/>
        </p:spPr>
        <p:txBody>
          <a:bodyPr wrap="square">
            <a:spAutoFit/>
          </a:bodyPr>
          <a:lstStyle/>
          <a:p>
            <a:pPr algn="l"/>
            <a:r>
              <a:rPr sz="1150" b="0" i="0">
                <a:solidFill>
                  <a:srgbClr val="2D3748"/>
                </a:solidFill>
                <a:latin typeface="Calibri"/>
              </a:rPr>
              <a:t>Alignments derived from 3D crystal structure superposition. Ground truth defined by physically overlaying atoms in space — no human curation bias.</a:t>
            </a:r>
          </a:p>
        </p:txBody>
      </p:sp>
      <p:sp>
        <p:nvSpPr>
          <p:cNvPr id="19" name="Rectangle 18"/>
          <p:cNvSpPr/>
          <p:nvPr/>
        </p:nvSpPr>
        <p:spPr>
          <a:xfrm>
            <a:off x="502920" y="3794760"/>
            <a:ext cx="5394960" cy="2450592"/>
          </a:xfrm>
          <a:prstGeom prst="rect">
            <a:avLst/>
          </a:prstGeom>
          <a:solidFill>
            <a:srgbClr val="E8F8FB"/>
          </a:solidFill>
          <a:ln w="508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794760"/>
            <a:ext cx="539496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922776"/>
            <a:ext cx="3474720" cy="347472"/>
          </a:xfrm>
          <a:prstGeom prst="rect">
            <a:avLst/>
          </a:prstGeom>
          <a:noFill/>
        </p:spPr>
        <p:txBody>
          <a:bodyPr wrap="square">
            <a:spAutoFit/>
          </a:bodyPr>
          <a:lstStyle/>
          <a:p>
            <a:pPr algn="l"/>
            <a:r>
              <a:rPr sz="1500" b="1" i="0">
                <a:solidFill>
                  <a:srgbClr val="27AE60"/>
                </a:solidFill>
                <a:latin typeface="Calibri"/>
              </a:rPr>
              <a:t>SABRE</a:t>
            </a:r>
          </a:p>
        </p:txBody>
      </p:sp>
      <p:sp>
        <p:nvSpPr>
          <p:cNvPr id="22" name="TextBox 21"/>
          <p:cNvSpPr txBox="1"/>
          <p:nvPr/>
        </p:nvSpPr>
        <p:spPr>
          <a:xfrm>
            <a:off x="640080" y="4270248"/>
            <a:ext cx="3474720" cy="347472"/>
          </a:xfrm>
          <a:prstGeom prst="rect">
            <a:avLst/>
          </a:prstGeom>
          <a:noFill/>
        </p:spPr>
        <p:txBody>
          <a:bodyPr wrap="square">
            <a:spAutoFit/>
          </a:bodyPr>
          <a:lstStyle/>
          <a:p>
            <a:pPr algn="l"/>
            <a:r>
              <a:rPr sz="1300" b="0" i="0">
                <a:solidFill>
                  <a:srgbClr val="718096"/>
                </a:solidFill>
                <a:latin typeface="Calibri"/>
              </a:rPr>
              <a:t>423 families</a:t>
            </a:r>
          </a:p>
        </p:txBody>
      </p:sp>
      <p:sp>
        <p:nvSpPr>
          <p:cNvPr id="23" name="TextBox 22"/>
          <p:cNvSpPr txBox="1"/>
          <p:nvPr/>
        </p:nvSpPr>
        <p:spPr>
          <a:xfrm>
            <a:off x="640080" y="4654296"/>
            <a:ext cx="5138928" cy="1463040"/>
          </a:xfrm>
          <a:prstGeom prst="rect">
            <a:avLst/>
          </a:prstGeom>
          <a:noFill/>
        </p:spPr>
        <p:txBody>
          <a:bodyPr wrap="square">
            <a:spAutoFit/>
          </a:bodyPr>
          <a:lstStyle/>
          <a:p>
            <a:pPr algn="l"/>
            <a:r>
              <a:rPr sz="1150" b="0" i="0">
                <a:solidFill>
                  <a:srgbClr val="2D3748"/>
                </a:solidFill>
                <a:latin typeface="Calibri"/>
              </a:rPr>
              <a:t>Covers a wide range of pairwise sequence identities. Tests whether tool rankings hold regardless of how similar or divergent the sequences are.</a:t>
            </a:r>
          </a:p>
        </p:txBody>
      </p:sp>
      <p:sp>
        <p:nvSpPr>
          <p:cNvPr id="24" name="Rectangle 23"/>
          <p:cNvSpPr/>
          <p:nvPr/>
        </p:nvSpPr>
        <p:spPr>
          <a:xfrm>
            <a:off x="6263640" y="3794760"/>
            <a:ext cx="5394960" cy="2450592"/>
          </a:xfrm>
          <a:prstGeom prst="rect">
            <a:avLst/>
          </a:prstGeom>
          <a:solidFill>
            <a:srgbClr val="E8F8FB"/>
          </a:solidFill>
          <a:ln w="508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3794760"/>
            <a:ext cx="5394960" cy="54864"/>
          </a:xfrm>
          <a:prstGeom prst="rect">
            <a:avLst/>
          </a:prstGeom>
          <a:solidFill>
            <a:srgbClr val="D3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922776"/>
            <a:ext cx="3474720" cy="347472"/>
          </a:xfrm>
          <a:prstGeom prst="rect">
            <a:avLst/>
          </a:prstGeom>
          <a:noFill/>
        </p:spPr>
        <p:txBody>
          <a:bodyPr wrap="square">
            <a:spAutoFit/>
          </a:bodyPr>
          <a:lstStyle/>
          <a:p>
            <a:pPr algn="l"/>
            <a:r>
              <a:rPr sz="1500" b="1" i="0">
                <a:solidFill>
                  <a:srgbClr val="D37800"/>
                </a:solidFill>
                <a:latin typeface="Calibri"/>
              </a:rPr>
              <a:t>PREFAB4</a:t>
            </a:r>
          </a:p>
        </p:txBody>
      </p:sp>
      <p:sp>
        <p:nvSpPr>
          <p:cNvPr id="27" name="TextBox 26"/>
          <p:cNvSpPr txBox="1"/>
          <p:nvPr/>
        </p:nvSpPr>
        <p:spPr>
          <a:xfrm>
            <a:off x="6400800" y="4270248"/>
            <a:ext cx="3474720" cy="347472"/>
          </a:xfrm>
          <a:prstGeom prst="rect">
            <a:avLst/>
          </a:prstGeom>
          <a:noFill/>
        </p:spPr>
        <p:txBody>
          <a:bodyPr wrap="square">
            <a:spAutoFit/>
          </a:bodyPr>
          <a:lstStyle/>
          <a:p>
            <a:pPr algn="l"/>
            <a:r>
              <a:rPr sz="1300" b="0" i="0">
                <a:solidFill>
                  <a:srgbClr val="718096"/>
                </a:solidFill>
                <a:latin typeface="Calibri"/>
              </a:rPr>
              <a:t>1,681 families</a:t>
            </a:r>
          </a:p>
        </p:txBody>
      </p:sp>
      <p:sp>
        <p:nvSpPr>
          <p:cNvPr id="28" name="TextBox 27"/>
          <p:cNvSpPr txBox="1"/>
          <p:nvPr/>
        </p:nvSpPr>
        <p:spPr>
          <a:xfrm>
            <a:off x="6400800" y="4654296"/>
            <a:ext cx="5138928" cy="1463040"/>
          </a:xfrm>
          <a:prstGeom prst="rect">
            <a:avLst/>
          </a:prstGeom>
          <a:noFill/>
        </p:spPr>
        <p:txBody>
          <a:bodyPr wrap="square">
            <a:spAutoFit/>
          </a:bodyPr>
          <a:lstStyle/>
          <a:p>
            <a:pPr algn="l"/>
            <a:r>
              <a:rPr sz="1150" b="0" i="0">
                <a:solidFill>
                  <a:srgbClr val="2D3748"/>
                </a:solidFill>
                <a:latin typeface="Calibri"/>
              </a:rPr>
              <a:t>Families weighted toward ~50 sequences each. Our primary scalability stress test — small runtime differences between tools get amplified 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83111" cy="658368"/>
          </a:xfrm>
          <a:prstGeom prst="rect">
            <a:avLst/>
          </a:prstGeom>
          <a:noFill/>
        </p:spPr>
        <p:txBody>
          <a:bodyPr wrap="square">
            <a:spAutoFit/>
          </a:bodyPr>
          <a:lstStyle/>
          <a:p>
            <a:pPr algn="l"/>
            <a:r>
              <a:rPr sz="2400" b="1" i="0">
                <a:solidFill>
                  <a:srgbClr val="2D3748"/>
                </a:solidFill>
                <a:latin typeface="Calibri"/>
              </a:rPr>
              <a:t>Alignment Tools &amp; Scoring</a:t>
            </a:r>
          </a:p>
        </p:txBody>
      </p:sp>
      <p:sp>
        <p:nvSpPr>
          <p:cNvPr id="4" name="TextBox 3"/>
          <p:cNvSpPr txBox="1"/>
          <p:nvPr/>
        </p:nvSpPr>
        <p:spPr>
          <a:xfrm>
            <a:off x="502920" y="749808"/>
            <a:ext cx="10725911" cy="329184"/>
          </a:xfrm>
          <a:prstGeom prst="rect">
            <a:avLst/>
          </a:prstGeom>
          <a:noFill/>
        </p:spPr>
        <p:txBody>
          <a:bodyPr wrap="square">
            <a:spAutoFit/>
          </a:bodyPr>
          <a:lstStyle/>
          <a:p>
            <a:pPr algn="l"/>
            <a:r>
              <a:rPr sz="1200" b="0" i="1">
                <a:solidFill>
                  <a:srgbClr val="00A3C4"/>
                </a:solidFill>
                <a:latin typeface="Calibri"/>
              </a:rPr>
              <a:t>Seven tools, all pinned to one CPU thread for fair runtime comparison</a:t>
            </a:r>
          </a:p>
        </p:txBody>
      </p:sp>
      <p:sp>
        <p:nvSpPr>
          <p:cNvPr id="5" name="Rectangle 4"/>
          <p:cNvSpPr/>
          <p:nvPr/>
        </p:nvSpPr>
        <p:spPr>
          <a:xfrm>
            <a:off x="0" y="6492240"/>
            <a:ext cx="12188952" cy="36576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3"/>
            <a:ext cx="9144000" cy="274320"/>
          </a:xfrm>
          <a:prstGeom prst="rect">
            <a:avLst/>
          </a:prstGeom>
          <a:noFill/>
        </p:spPr>
        <p:txBody>
          <a:bodyPr wrap="square">
            <a:spAutoFit/>
          </a:bodyPr>
          <a:lstStyle/>
          <a:p>
            <a:pPr algn="l"/>
            <a:r>
              <a:rPr sz="900" b="0" i="0">
                <a:solidFill>
                  <a:srgbClr val="718096"/>
                </a:solidFill>
                <a:latin typeface="Calibri"/>
              </a:rPr>
              <a:t>CS 502 — Computational Biology  |  UIC  |  Spring 2026</a:t>
            </a:r>
          </a:p>
        </p:txBody>
      </p:sp>
      <p:sp>
        <p:nvSpPr>
          <p:cNvPr id="8" name="TextBox 7"/>
          <p:cNvSpPr txBox="1"/>
          <p:nvPr/>
        </p:nvSpPr>
        <p:spPr>
          <a:xfrm>
            <a:off x="11045952" y="6547103"/>
            <a:ext cx="640080" cy="274320"/>
          </a:xfrm>
          <a:prstGeom prst="rect">
            <a:avLst/>
          </a:prstGeom>
          <a:noFill/>
        </p:spPr>
        <p:txBody>
          <a:bodyPr wrap="square">
            <a:spAutoFit/>
          </a:bodyPr>
          <a:lstStyle/>
          <a:p>
            <a:pPr algn="r"/>
            <a:r>
              <a:rPr sz="900" b="1" i="0">
                <a:solidFill>
                  <a:srgbClr val="00A3C4"/>
                </a:solidFill>
                <a:latin typeface="Calibri"/>
              </a:rPr>
              <a:t>4 / 10</a:t>
            </a:r>
          </a:p>
        </p:txBody>
      </p:sp>
      <p:sp>
        <p:nvSpPr>
          <p:cNvPr id="9" name="Rectangle 8"/>
          <p:cNvSpPr/>
          <p:nvPr/>
        </p:nvSpPr>
        <p:spPr>
          <a:xfrm>
            <a:off x="502920" y="1143000"/>
            <a:ext cx="6858000" cy="438912"/>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1216152"/>
            <a:ext cx="2084831" cy="329184"/>
          </a:xfrm>
          <a:prstGeom prst="rect">
            <a:avLst/>
          </a:prstGeom>
          <a:noFill/>
        </p:spPr>
        <p:txBody>
          <a:bodyPr wrap="square">
            <a:spAutoFit/>
          </a:bodyPr>
          <a:lstStyle/>
          <a:p>
            <a:pPr algn="ctr"/>
            <a:r>
              <a:rPr sz="1100" b="1" i="0">
                <a:solidFill>
                  <a:srgbClr val="FFFFFF"/>
                </a:solidFill>
                <a:latin typeface="Calibri"/>
              </a:rPr>
              <a:t>Tool</a:t>
            </a:r>
          </a:p>
        </p:txBody>
      </p:sp>
      <p:sp>
        <p:nvSpPr>
          <p:cNvPr id="11" name="TextBox 10"/>
          <p:cNvSpPr txBox="1"/>
          <p:nvPr/>
        </p:nvSpPr>
        <p:spPr>
          <a:xfrm>
            <a:off x="2770632" y="1216152"/>
            <a:ext cx="2267712" cy="329184"/>
          </a:xfrm>
          <a:prstGeom prst="rect">
            <a:avLst/>
          </a:prstGeom>
          <a:noFill/>
        </p:spPr>
        <p:txBody>
          <a:bodyPr wrap="square">
            <a:spAutoFit/>
          </a:bodyPr>
          <a:lstStyle/>
          <a:p>
            <a:pPr algn="ctr"/>
            <a:r>
              <a:rPr sz="1100" b="1" i="0">
                <a:solidFill>
                  <a:srgbClr val="FFFFFF"/>
                </a:solidFill>
                <a:latin typeface="Calibri"/>
              </a:rPr>
              <a:t>Algorithm Family</a:t>
            </a:r>
          </a:p>
        </p:txBody>
      </p:sp>
      <p:sp>
        <p:nvSpPr>
          <p:cNvPr id="12" name="TextBox 11"/>
          <p:cNvSpPr txBox="1"/>
          <p:nvPr/>
        </p:nvSpPr>
        <p:spPr>
          <a:xfrm>
            <a:off x="5148072" y="1216152"/>
            <a:ext cx="2176272" cy="329184"/>
          </a:xfrm>
          <a:prstGeom prst="rect">
            <a:avLst/>
          </a:prstGeom>
          <a:noFill/>
        </p:spPr>
        <p:txBody>
          <a:bodyPr wrap="square">
            <a:spAutoFit/>
          </a:bodyPr>
          <a:lstStyle/>
          <a:p>
            <a:pPr algn="ctr"/>
            <a:r>
              <a:rPr sz="1100" b="1" i="0">
                <a:solidFill>
                  <a:srgbClr val="FFFFFF"/>
                </a:solidFill>
                <a:latin typeface="Calibri"/>
              </a:rPr>
              <a:t>Key Flag</a:t>
            </a:r>
          </a:p>
        </p:txBody>
      </p:sp>
      <p:sp>
        <p:nvSpPr>
          <p:cNvPr id="13" name="Rectangle 12"/>
          <p:cNvSpPr/>
          <p:nvPr/>
        </p:nvSpPr>
        <p:spPr>
          <a:xfrm>
            <a:off x="502920" y="1581912"/>
            <a:ext cx="6858000" cy="438912"/>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 y="1664208"/>
            <a:ext cx="2084831" cy="310896"/>
          </a:xfrm>
          <a:prstGeom prst="rect">
            <a:avLst/>
          </a:prstGeom>
          <a:noFill/>
        </p:spPr>
        <p:txBody>
          <a:bodyPr wrap="square">
            <a:spAutoFit/>
          </a:bodyPr>
          <a:lstStyle/>
          <a:p>
            <a:pPr algn="l"/>
            <a:r>
              <a:rPr sz="1100" b="1" i="0">
                <a:solidFill>
                  <a:srgbClr val="007A94"/>
                </a:solidFill>
                <a:latin typeface="Calibri"/>
              </a:rPr>
              <a:t>MAFFT FFT-NS-2</a:t>
            </a:r>
          </a:p>
        </p:txBody>
      </p:sp>
      <p:sp>
        <p:nvSpPr>
          <p:cNvPr id="15" name="TextBox 14"/>
          <p:cNvSpPr txBox="1"/>
          <p:nvPr/>
        </p:nvSpPr>
        <p:spPr>
          <a:xfrm>
            <a:off x="2770632" y="1664208"/>
            <a:ext cx="2267712" cy="310896"/>
          </a:xfrm>
          <a:prstGeom prst="rect">
            <a:avLst/>
          </a:prstGeom>
          <a:noFill/>
        </p:spPr>
        <p:txBody>
          <a:bodyPr wrap="square">
            <a:spAutoFit/>
          </a:bodyPr>
          <a:lstStyle/>
          <a:p>
            <a:pPr algn="ctr"/>
            <a:r>
              <a:rPr sz="1100" b="0" i="0">
                <a:solidFill>
                  <a:srgbClr val="2D3748"/>
                </a:solidFill>
                <a:latin typeface="Calibri"/>
              </a:rPr>
              <a:t>Progressive</a:t>
            </a:r>
          </a:p>
        </p:txBody>
      </p:sp>
      <p:sp>
        <p:nvSpPr>
          <p:cNvPr id="16" name="TextBox 15"/>
          <p:cNvSpPr txBox="1"/>
          <p:nvPr/>
        </p:nvSpPr>
        <p:spPr>
          <a:xfrm>
            <a:off x="5148072" y="1664208"/>
            <a:ext cx="2176272" cy="310896"/>
          </a:xfrm>
          <a:prstGeom prst="rect">
            <a:avLst/>
          </a:prstGeom>
          <a:noFill/>
        </p:spPr>
        <p:txBody>
          <a:bodyPr wrap="square">
            <a:spAutoFit/>
          </a:bodyPr>
          <a:lstStyle/>
          <a:p>
            <a:pPr algn="ctr"/>
            <a:r>
              <a:rPr sz="1100" b="0" i="0">
                <a:solidFill>
                  <a:srgbClr val="2D3748"/>
                </a:solidFill>
                <a:latin typeface="Calibri"/>
              </a:rPr>
              <a:t>--retree 2</a:t>
            </a:r>
          </a:p>
        </p:txBody>
      </p:sp>
      <p:sp>
        <p:nvSpPr>
          <p:cNvPr id="17" name="Rectangle 16"/>
          <p:cNvSpPr/>
          <p:nvPr/>
        </p:nvSpPr>
        <p:spPr>
          <a:xfrm>
            <a:off x="502920" y="2020824"/>
            <a:ext cx="68580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072" y="2103120"/>
            <a:ext cx="2084831" cy="310896"/>
          </a:xfrm>
          <a:prstGeom prst="rect">
            <a:avLst/>
          </a:prstGeom>
          <a:noFill/>
        </p:spPr>
        <p:txBody>
          <a:bodyPr wrap="square">
            <a:spAutoFit/>
          </a:bodyPr>
          <a:lstStyle/>
          <a:p>
            <a:pPr algn="l"/>
            <a:r>
              <a:rPr sz="1100" b="1" i="0">
                <a:solidFill>
                  <a:srgbClr val="007A94"/>
                </a:solidFill>
                <a:latin typeface="Calibri"/>
              </a:rPr>
              <a:t>MAFFT L-INS-i</a:t>
            </a:r>
          </a:p>
        </p:txBody>
      </p:sp>
      <p:sp>
        <p:nvSpPr>
          <p:cNvPr id="19" name="TextBox 18"/>
          <p:cNvSpPr txBox="1"/>
          <p:nvPr/>
        </p:nvSpPr>
        <p:spPr>
          <a:xfrm>
            <a:off x="2770632" y="2103120"/>
            <a:ext cx="2267712" cy="310896"/>
          </a:xfrm>
          <a:prstGeom prst="rect">
            <a:avLst/>
          </a:prstGeom>
          <a:noFill/>
        </p:spPr>
        <p:txBody>
          <a:bodyPr wrap="square">
            <a:spAutoFit/>
          </a:bodyPr>
          <a:lstStyle/>
          <a:p>
            <a:pPr algn="ctr"/>
            <a:r>
              <a:rPr sz="1100" b="0" i="0">
                <a:solidFill>
                  <a:srgbClr val="2D3748"/>
                </a:solidFill>
                <a:latin typeface="Calibri"/>
              </a:rPr>
              <a:t>Iterative Refinement</a:t>
            </a:r>
          </a:p>
        </p:txBody>
      </p:sp>
      <p:sp>
        <p:nvSpPr>
          <p:cNvPr id="20" name="TextBox 19"/>
          <p:cNvSpPr txBox="1"/>
          <p:nvPr/>
        </p:nvSpPr>
        <p:spPr>
          <a:xfrm>
            <a:off x="5148072" y="2103120"/>
            <a:ext cx="2176272" cy="310896"/>
          </a:xfrm>
          <a:prstGeom prst="rect">
            <a:avLst/>
          </a:prstGeom>
          <a:noFill/>
        </p:spPr>
        <p:txBody>
          <a:bodyPr wrap="square">
            <a:spAutoFit/>
          </a:bodyPr>
          <a:lstStyle/>
          <a:p>
            <a:pPr algn="ctr"/>
            <a:r>
              <a:rPr sz="1100" b="0" i="0">
                <a:solidFill>
                  <a:srgbClr val="2D3748"/>
                </a:solidFill>
                <a:latin typeface="Calibri"/>
              </a:rPr>
              <a:t>--maxiterate 1000</a:t>
            </a:r>
          </a:p>
        </p:txBody>
      </p:sp>
      <p:sp>
        <p:nvSpPr>
          <p:cNvPr id="21" name="Rectangle 20"/>
          <p:cNvSpPr/>
          <p:nvPr/>
        </p:nvSpPr>
        <p:spPr>
          <a:xfrm>
            <a:off x="502920" y="2459736"/>
            <a:ext cx="6858000" cy="438912"/>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 y="2542032"/>
            <a:ext cx="2084831" cy="310896"/>
          </a:xfrm>
          <a:prstGeom prst="rect">
            <a:avLst/>
          </a:prstGeom>
          <a:noFill/>
        </p:spPr>
        <p:txBody>
          <a:bodyPr wrap="square">
            <a:spAutoFit/>
          </a:bodyPr>
          <a:lstStyle/>
          <a:p>
            <a:pPr algn="l"/>
            <a:r>
              <a:rPr sz="1100" b="1" i="0">
                <a:solidFill>
                  <a:srgbClr val="007A94"/>
                </a:solidFill>
                <a:latin typeface="Calibri"/>
              </a:rPr>
              <a:t>MUSCLE5</a:t>
            </a:r>
          </a:p>
        </p:txBody>
      </p:sp>
      <p:sp>
        <p:nvSpPr>
          <p:cNvPr id="23" name="TextBox 22"/>
          <p:cNvSpPr txBox="1"/>
          <p:nvPr/>
        </p:nvSpPr>
        <p:spPr>
          <a:xfrm>
            <a:off x="2770632" y="2542032"/>
            <a:ext cx="2267712" cy="310896"/>
          </a:xfrm>
          <a:prstGeom prst="rect">
            <a:avLst/>
          </a:prstGeom>
          <a:noFill/>
        </p:spPr>
        <p:txBody>
          <a:bodyPr wrap="square">
            <a:spAutoFit/>
          </a:bodyPr>
          <a:lstStyle/>
          <a:p>
            <a:pPr algn="ctr"/>
            <a:r>
              <a:rPr sz="1100" b="0" i="0">
                <a:solidFill>
                  <a:srgbClr val="2D3748"/>
                </a:solidFill>
                <a:latin typeface="Calibri"/>
              </a:rPr>
              <a:t>Iterative (ensemble)</a:t>
            </a:r>
          </a:p>
        </p:txBody>
      </p:sp>
      <p:sp>
        <p:nvSpPr>
          <p:cNvPr id="24" name="TextBox 23"/>
          <p:cNvSpPr txBox="1"/>
          <p:nvPr/>
        </p:nvSpPr>
        <p:spPr>
          <a:xfrm>
            <a:off x="5148072" y="2542032"/>
            <a:ext cx="2176272" cy="310896"/>
          </a:xfrm>
          <a:prstGeom prst="rect">
            <a:avLst/>
          </a:prstGeom>
          <a:noFill/>
        </p:spPr>
        <p:txBody>
          <a:bodyPr wrap="square">
            <a:spAutoFit/>
          </a:bodyPr>
          <a:lstStyle/>
          <a:p>
            <a:pPr algn="ctr"/>
            <a:r>
              <a:rPr sz="1100" b="0" i="0">
                <a:solidFill>
                  <a:srgbClr val="2D3748"/>
                </a:solidFill>
                <a:latin typeface="Calibri"/>
              </a:rPr>
              <a:t>-threads 1</a:t>
            </a:r>
          </a:p>
        </p:txBody>
      </p:sp>
      <p:sp>
        <p:nvSpPr>
          <p:cNvPr id="25" name="Rectangle 24"/>
          <p:cNvSpPr/>
          <p:nvPr/>
        </p:nvSpPr>
        <p:spPr>
          <a:xfrm>
            <a:off x="502920" y="2898648"/>
            <a:ext cx="68580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6072" y="2980944"/>
            <a:ext cx="2084831" cy="310896"/>
          </a:xfrm>
          <a:prstGeom prst="rect">
            <a:avLst/>
          </a:prstGeom>
          <a:noFill/>
        </p:spPr>
        <p:txBody>
          <a:bodyPr wrap="square">
            <a:spAutoFit/>
          </a:bodyPr>
          <a:lstStyle/>
          <a:p>
            <a:pPr algn="l"/>
            <a:r>
              <a:rPr sz="1100" b="1" i="0">
                <a:solidFill>
                  <a:srgbClr val="007A94"/>
                </a:solidFill>
                <a:latin typeface="Calibri"/>
              </a:rPr>
              <a:t>Clustal Omega</a:t>
            </a:r>
          </a:p>
        </p:txBody>
      </p:sp>
      <p:sp>
        <p:nvSpPr>
          <p:cNvPr id="27" name="TextBox 26"/>
          <p:cNvSpPr txBox="1"/>
          <p:nvPr/>
        </p:nvSpPr>
        <p:spPr>
          <a:xfrm>
            <a:off x="2770632" y="2980944"/>
            <a:ext cx="2267712" cy="310896"/>
          </a:xfrm>
          <a:prstGeom prst="rect">
            <a:avLst/>
          </a:prstGeom>
          <a:noFill/>
        </p:spPr>
        <p:txBody>
          <a:bodyPr wrap="square">
            <a:spAutoFit/>
          </a:bodyPr>
          <a:lstStyle/>
          <a:p>
            <a:pPr algn="ctr"/>
            <a:r>
              <a:rPr sz="1100" b="0" i="0">
                <a:solidFill>
                  <a:srgbClr val="2D3748"/>
                </a:solidFill>
                <a:latin typeface="Calibri"/>
              </a:rPr>
              <a:t>Progressive</a:t>
            </a:r>
          </a:p>
        </p:txBody>
      </p:sp>
      <p:sp>
        <p:nvSpPr>
          <p:cNvPr id="28" name="TextBox 27"/>
          <p:cNvSpPr txBox="1"/>
          <p:nvPr/>
        </p:nvSpPr>
        <p:spPr>
          <a:xfrm>
            <a:off x="5148072" y="2980944"/>
            <a:ext cx="2176272" cy="310896"/>
          </a:xfrm>
          <a:prstGeom prst="rect">
            <a:avLst/>
          </a:prstGeom>
          <a:noFill/>
        </p:spPr>
        <p:txBody>
          <a:bodyPr wrap="square">
            <a:spAutoFit/>
          </a:bodyPr>
          <a:lstStyle/>
          <a:p>
            <a:pPr algn="ctr"/>
            <a:r>
              <a:rPr sz="1100" b="0" i="0">
                <a:solidFill>
                  <a:srgbClr val="2D3748"/>
                </a:solidFill>
                <a:latin typeface="Calibri"/>
              </a:rPr>
              <a:t>--force</a:t>
            </a:r>
          </a:p>
        </p:txBody>
      </p:sp>
      <p:sp>
        <p:nvSpPr>
          <p:cNvPr id="29" name="Rectangle 28"/>
          <p:cNvSpPr/>
          <p:nvPr/>
        </p:nvSpPr>
        <p:spPr>
          <a:xfrm>
            <a:off x="502920" y="3337560"/>
            <a:ext cx="6858000" cy="438912"/>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6072" y="3419856"/>
            <a:ext cx="2084831" cy="310896"/>
          </a:xfrm>
          <a:prstGeom prst="rect">
            <a:avLst/>
          </a:prstGeom>
          <a:noFill/>
        </p:spPr>
        <p:txBody>
          <a:bodyPr wrap="square">
            <a:spAutoFit/>
          </a:bodyPr>
          <a:lstStyle/>
          <a:p>
            <a:pPr algn="l"/>
            <a:r>
              <a:rPr sz="1100" b="1" i="0">
                <a:solidFill>
                  <a:srgbClr val="007A94"/>
                </a:solidFill>
                <a:latin typeface="Calibri"/>
              </a:rPr>
              <a:t>Kalign3</a:t>
            </a:r>
          </a:p>
        </p:txBody>
      </p:sp>
      <p:sp>
        <p:nvSpPr>
          <p:cNvPr id="31" name="TextBox 30"/>
          <p:cNvSpPr txBox="1"/>
          <p:nvPr/>
        </p:nvSpPr>
        <p:spPr>
          <a:xfrm>
            <a:off x="2770632" y="3419856"/>
            <a:ext cx="2267712" cy="310896"/>
          </a:xfrm>
          <a:prstGeom prst="rect">
            <a:avLst/>
          </a:prstGeom>
          <a:noFill/>
        </p:spPr>
        <p:txBody>
          <a:bodyPr wrap="square">
            <a:spAutoFit/>
          </a:bodyPr>
          <a:lstStyle/>
          <a:p>
            <a:pPr algn="ctr"/>
            <a:r>
              <a:rPr sz="1100" b="0" i="0">
                <a:solidFill>
                  <a:srgbClr val="2D3748"/>
                </a:solidFill>
                <a:latin typeface="Calibri"/>
              </a:rPr>
              <a:t>Progressive</a:t>
            </a:r>
          </a:p>
        </p:txBody>
      </p:sp>
      <p:sp>
        <p:nvSpPr>
          <p:cNvPr id="32" name="TextBox 31"/>
          <p:cNvSpPr txBox="1"/>
          <p:nvPr/>
        </p:nvSpPr>
        <p:spPr>
          <a:xfrm>
            <a:off x="5148072" y="3419856"/>
            <a:ext cx="2176272" cy="310896"/>
          </a:xfrm>
          <a:prstGeom prst="rect">
            <a:avLst/>
          </a:prstGeom>
          <a:noFill/>
        </p:spPr>
        <p:txBody>
          <a:bodyPr wrap="square">
            <a:spAutoFit/>
          </a:bodyPr>
          <a:lstStyle/>
          <a:p>
            <a:pPr algn="ctr"/>
            <a:r>
              <a:rPr sz="1100" b="0" i="0">
                <a:solidFill>
                  <a:srgbClr val="2D3748"/>
                </a:solidFill>
                <a:latin typeface="Calibri"/>
              </a:rPr>
              <a:t>--nthreads 1</a:t>
            </a:r>
          </a:p>
        </p:txBody>
      </p:sp>
      <p:sp>
        <p:nvSpPr>
          <p:cNvPr id="33" name="Rectangle 32"/>
          <p:cNvSpPr/>
          <p:nvPr/>
        </p:nvSpPr>
        <p:spPr>
          <a:xfrm>
            <a:off x="502920" y="3776472"/>
            <a:ext cx="68580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6072" y="3858768"/>
            <a:ext cx="2084831" cy="310896"/>
          </a:xfrm>
          <a:prstGeom prst="rect">
            <a:avLst/>
          </a:prstGeom>
          <a:noFill/>
        </p:spPr>
        <p:txBody>
          <a:bodyPr wrap="square">
            <a:spAutoFit/>
          </a:bodyPr>
          <a:lstStyle/>
          <a:p>
            <a:pPr algn="l"/>
            <a:r>
              <a:rPr sz="1100" b="1" i="0">
                <a:solidFill>
                  <a:srgbClr val="007A94"/>
                </a:solidFill>
                <a:latin typeface="Calibri"/>
              </a:rPr>
              <a:t>T-Coffee</a:t>
            </a:r>
          </a:p>
        </p:txBody>
      </p:sp>
      <p:sp>
        <p:nvSpPr>
          <p:cNvPr id="35" name="TextBox 34"/>
          <p:cNvSpPr txBox="1"/>
          <p:nvPr/>
        </p:nvSpPr>
        <p:spPr>
          <a:xfrm>
            <a:off x="2770632" y="3858768"/>
            <a:ext cx="2267712" cy="310896"/>
          </a:xfrm>
          <a:prstGeom prst="rect">
            <a:avLst/>
          </a:prstGeom>
          <a:noFill/>
        </p:spPr>
        <p:txBody>
          <a:bodyPr wrap="square">
            <a:spAutoFit/>
          </a:bodyPr>
          <a:lstStyle/>
          <a:p>
            <a:pPr algn="ctr"/>
            <a:r>
              <a:rPr sz="1100" b="0" i="0">
                <a:solidFill>
                  <a:srgbClr val="2D3748"/>
                </a:solidFill>
                <a:latin typeface="Calibri"/>
              </a:rPr>
              <a:t>Consistency-Based</a:t>
            </a:r>
          </a:p>
        </p:txBody>
      </p:sp>
      <p:sp>
        <p:nvSpPr>
          <p:cNvPr id="36" name="TextBox 35"/>
          <p:cNvSpPr txBox="1"/>
          <p:nvPr/>
        </p:nvSpPr>
        <p:spPr>
          <a:xfrm>
            <a:off x="5148072" y="3858768"/>
            <a:ext cx="2176272" cy="310896"/>
          </a:xfrm>
          <a:prstGeom prst="rect">
            <a:avLst/>
          </a:prstGeom>
          <a:noFill/>
        </p:spPr>
        <p:txBody>
          <a:bodyPr wrap="square">
            <a:spAutoFit/>
          </a:bodyPr>
          <a:lstStyle/>
          <a:p>
            <a:pPr algn="ctr"/>
            <a:r>
              <a:rPr sz="1100" b="0" i="0">
                <a:solidFill>
                  <a:srgbClr val="2D3748"/>
                </a:solidFill>
                <a:latin typeface="Calibri"/>
              </a:rPr>
              <a:t>-output fasta_aln</a:t>
            </a:r>
          </a:p>
        </p:txBody>
      </p:sp>
      <p:sp>
        <p:nvSpPr>
          <p:cNvPr id="37" name="Rectangle 36"/>
          <p:cNvSpPr/>
          <p:nvPr/>
        </p:nvSpPr>
        <p:spPr>
          <a:xfrm>
            <a:off x="502920" y="4215383"/>
            <a:ext cx="6858000" cy="438912"/>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6072" y="4297679"/>
            <a:ext cx="2084831" cy="310896"/>
          </a:xfrm>
          <a:prstGeom prst="rect">
            <a:avLst/>
          </a:prstGeom>
          <a:noFill/>
        </p:spPr>
        <p:txBody>
          <a:bodyPr wrap="square">
            <a:spAutoFit/>
          </a:bodyPr>
          <a:lstStyle/>
          <a:p>
            <a:pPr algn="l"/>
            <a:r>
              <a:rPr sz="1100" b="1" i="0">
                <a:solidFill>
                  <a:srgbClr val="007A94"/>
                </a:solidFill>
                <a:latin typeface="Calibri"/>
              </a:rPr>
              <a:t>FAMSA</a:t>
            </a:r>
          </a:p>
        </p:txBody>
      </p:sp>
      <p:sp>
        <p:nvSpPr>
          <p:cNvPr id="39" name="TextBox 38"/>
          <p:cNvSpPr txBox="1"/>
          <p:nvPr/>
        </p:nvSpPr>
        <p:spPr>
          <a:xfrm>
            <a:off x="2770632" y="4297679"/>
            <a:ext cx="2267712" cy="310896"/>
          </a:xfrm>
          <a:prstGeom prst="rect">
            <a:avLst/>
          </a:prstGeom>
          <a:noFill/>
        </p:spPr>
        <p:txBody>
          <a:bodyPr wrap="square">
            <a:spAutoFit/>
          </a:bodyPr>
          <a:lstStyle/>
          <a:p>
            <a:pPr algn="ctr"/>
            <a:r>
              <a:rPr sz="1100" b="0" i="0">
                <a:solidFill>
                  <a:srgbClr val="2D3748"/>
                </a:solidFill>
                <a:latin typeface="Calibri"/>
              </a:rPr>
              <a:t>Progressive</a:t>
            </a:r>
          </a:p>
        </p:txBody>
      </p:sp>
      <p:sp>
        <p:nvSpPr>
          <p:cNvPr id="40" name="TextBox 39"/>
          <p:cNvSpPr txBox="1"/>
          <p:nvPr/>
        </p:nvSpPr>
        <p:spPr>
          <a:xfrm>
            <a:off x="5148072" y="4297679"/>
            <a:ext cx="2176272" cy="310896"/>
          </a:xfrm>
          <a:prstGeom prst="rect">
            <a:avLst/>
          </a:prstGeom>
          <a:noFill/>
        </p:spPr>
        <p:txBody>
          <a:bodyPr wrap="square">
            <a:spAutoFit/>
          </a:bodyPr>
          <a:lstStyle/>
          <a:p>
            <a:pPr algn="ctr"/>
            <a:r>
              <a:rPr sz="1100" b="0" i="0">
                <a:solidFill>
                  <a:srgbClr val="2D3748"/>
                </a:solidFill>
                <a:latin typeface="Calibri"/>
              </a:rPr>
              <a:t>-t 1</a:t>
            </a:r>
          </a:p>
        </p:txBody>
      </p:sp>
      <p:sp>
        <p:nvSpPr>
          <p:cNvPr id="41" name="Rectangle 40"/>
          <p:cNvSpPr/>
          <p:nvPr/>
        </p:nvSpPr>
        <p:spPr>
          <a:xfrm>
            <a:off x="7726680" y="1143000"/>
            <a:ext cx="3959351" cy="1719072"/>
          </a:xfrm>
          <a:prstGeom prst="rect">
            <a:avLst/>
          </a:prstGeom>
          <a:solidFill>
            <a:srgbClr val="E8F8FB"/>
          </a:solidFill>
          <a:ln w="508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26680" y="1143000"/>
            <a:ext cx="3959351" cy="54864"/>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63840" y="1271016"/>
            <a:ext cx="640080" cy="384048"/>
          </a:xfrm>
          <a:prstGeom prst="rect">
            <a:avLst/>
          </a:prstGeom>
          <a:noFill/>
        </p:spPr>
        <p:txBody>
          <a:bodyPr wrap="square">
            <a:spAutoFit/>
          </a:bodyPr>
          <a:lstStyle/>
          <a:p>
            <a:pPr algn="l"/>
            <a:r>
              <a:rPr sz="2200" b="1" i="0">
                <a:solidFill>
                  <a:srgbClr val="00A3C4"/>
                </a:solidFill>
                <a:latin typeface="Calibri"/>
              </a:rPr>
              <a:t>SP</a:t>
            </a:r>
          </a:p>
        </p:txBody>
      </p:sp>
      <p:sp>
        <p:nvSpPr>
          <p:cNvPr id="44" name="TextBox 43"/>
          <p:cNvSpPr txBox="1"/>
          <p:nvPr/>
        </p:nvSpPr>
        <p:spPr>
          <a:xfrm>
            <a:off x="7863840" y="1655064"/>
            <a:ext cx="3703319" cy="310896"/>
          </a:xfrm>
          <a:prstGeom prst="rect">
            <a:avLst/>
          </a:prstGeom>
          <a:noFill/>
        </p:spPr>
        <p:txBody>
          <a:bodyPr wrap="square">
            <a:spAutoFit/>
          </a:bodyPr>
          <a:lstStyle/>
          <a:p>
            <a:pPr algn="l"/>
            <a:r>
              <a:rPr sz="1300" b="1" i="0">
                <a:solidFill>
                  <a:srgbClr val="2D3748"/>
                </a:solidFill>
                <a:latin typeface="Calibri"/>
              </a:rPr>
              <a:t>Sum-of-Pairs</a:t>
            </a:r>
          </a:p>
        </p:txBody>
      </p:sp>
      <p:sp>
        <p:nvSpPr>
          <p:cNvPr id="45" name="TextBox 44"/>
          <p:cNvSpPr txBox="1"/>
          <p:nvPr/>
        </p:nvSpPr>
        <p:spPr>
          <a:xfrm>
            <a:off x="7863840" y="2011680"/>
            <a:ext cx="3703319" cy="749808"/>
          </a:xfrm>
          <a:prstGeom prst="rect">
            <a:avLst/>
          </a:prstGeom>
          <a:noFill/>
        </p:spPr>
        <p:txBody>
          <a:bodyPr wrap="square">
            <a:spAutoFit/>
          </a:bodyPr>
          <a:lstStyle/>
          <a:p>
            <a:pPr algn="l"/>
            <a:r>
              <a:rPr sz="1150" b="0" i="0">
                <a:solidFill>
                  <a:srgbClr val="718096"/>
                </a:solidFill>
                <a:latin typeface="Calibri"/>
              </a:rPr>
              <a:t>Fraction of reference residue pairs correctly co-aligned. Partial credit — sensitive to per-column accuracy.</a:t>
            </a:r>
          </a:p>
        </p:txBody>
      </p:sp>
      <p:sp>
        <p:nvSpPr>
          <p:cNvPr id="46" name="Rectangle 45"/>
          <p:cNvSpPr/>
          <p:nvPr/>
        </p:nvSpPr>
        <p:spPr>
          <a:xfrm>
            <a:off x="7726680" y="3017520"/>
            <a:ext cx="3959351" cy="1719072"/>
          </a:xfrm>
          <a:prstGeom prst="rect">
            <a:avLst/>
          </a:prstGeom>
          <a:solidFill>
            <a:srgbClr val="E8F8FB"/>
          </a:solidFill>
          <a:ln w="508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26680" y="3017520"/>
            <a:ext cx="3959351" cy="54864"/>
          </a:xfrm>
          <a:prstGeom prst="rect">
            <a:avLst/>
          </a:prstGeom>
          <a:solidFill>
            <a:srgbClr val="007A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63840" y="3145536"/>
            <a:ext cx="640080" cy="384048"/>
          </a:xfrm>
          <a:prstGeom prst="rect">
            <a:avLst/>
          </a:prstGeom>
          <a:noFill/>
        </p:spPr>
        <p:txBody>
          <a:bodyPr wrap="square">
            <a:spAutoFit/>
          </a:bodyPr>
          <a:lstStyle/>
          <a:p>
            <a:pPr algn="l"/>
            <a:r>
              <a:rPr sz="2200" b="1" i="0">
                <a:solidFill>
                  <a:srgbClr val="007A94"/>
                </a:solidFill>
                <a:latin typeface="Calibri"/>
              </a:rPr>
              <a:t>TC</a:t>
            </a:r>
          </a:p>
        </p:txBody>
      </p:sp>
      <p:sp>
        <p:nvSpPr>
          <p:cNvPr id="49" name="TextBox 48"/>
          <p:cNvSpPr txBox="1"/>
          <p:nvPr/>
        </p:nvSpPr>
        <p:spPr>
          <a:xfrm>
            <a:off x="7863840" y="3529584"/>
            <a:ext cx="3703319" cy="310896"/>
          </a:xfrm>
          <a:prstGeom prst="rect">
            <a:avLst/>
          </a:prstGeom>
          <a:noFill/>
        </p:spPr>
        <p:txBody>
          <a:bodyPr wrap="square">
            <a:spAutoFit/>
          </a:bodyPr>
          <a:lstStyle/>
          <a:p>
            <a:pPr algn="l"/>
            <a:r>
              <a:rPr sz="1300" b="1" i="0">
                <a:solidFill>
                  <a:srgbClr val="2D3748"/>
                </a:solidFill>
                <a:latin typeface="Calibri"/>
              </a:rPr>
              <a:t>Total Column</a:t>
            </a:r>
          </a:p>
        </p:txBody>
      </p:sp>
      <p:sp>
        <p:nvSpPr>
          <p:cNvPr id="50" name="TextBox 49"/>
          <p:cNvSpPr txBox="1"/>
          <p:nvPr/>
        </p:nvSpPr>
        <p:spPr>
          <a:xfrm>
            <a:off x="7863840" y="3886200"/>
            <a:ext cx="3703319" cy="749808"/>
          </a:xfrm>
          <a:prstGeom prst="rect">
            <a:avLst/>
          </a:prstGeom>
          <a:noFill/>
        </p:spPr>
        <p:txBody>
          <a:bodyPr wrap="square">
            <a:spAutoFit/>
          </a:bodyPr>
          <a:lstStyle/>
          <a:p>
            <a:pPr algn="l"/>
            <a:r>
              <a:rPr sz="1150" b="0" i="0">
                <a:solidFill>
                  <a:srgbClr val="718096"/>
                </a:solidFill>
                <a:latin typeface="Calibri"/>
              </a:rPr>
              <a:t>Fraction of columns reproduced exactly. No partial credit — one wrong residue fails the whole column.</a:t>
            </a:r>
          </a:p>
        </p:txBody>
      </p:sp>
      <p:sp>
        <p:nvSpPr>
          <p:cNvPr id="51" name="TextBox 50"/>
          <p:cNvSpPr txBox="1"/>
          <p:nvPr/>
        </p:nvSpPr>
        <p:spPr>
          <a:xfrm>
            <a:off x="7726680" y="5029200"/>
            <a:ext cx="3959351" cy="292608"/>
          </a:xfrm>
          <a:prstGeom prst="rect">
            <a:avLst/>
          </a:prstGeom>
          <a:noFill/>
        </p:spPr>
        <p:txBody>
          <a:bodyPr wrap="square">
            <a:spAutoFit/>
          </a:bodyPr>
          <a:lstStyle/>
          <a:p>
            <a:pPr algn="l"/>
            <a:r>
              <a:rPr sz="950" b="0" i="1">
                <a:solidFill>
                  <a:srgbClr val="718096"/>
                </a:solidFill>
                <a:latin typeface="Calibri"/>
              </a:rPr>
              <a:t>★  Only uppercase residues score (structurally confirmed positions)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83111" cy="658368"/>
          </a:xfrm>
          <a:prstGeom prst="rect">
            <a:avLst/>
          </a:prstGeom>
          <a:noFill/>
        </p:spPr>
        <p:txBody>
          <a:bodyPr wrap="square">
            <a:spAutoFit/>
          </a:bodyPr>
          <a:lstStyle/>
          <a:p>
            <a:pPr algn="l"/>
            <a:r>
              <a:rPr sz="2400" b="1" i="0">
                <a:solidFill>
                  <a:srgbClr val="2D3748"/>
                </a:solidFill>
                <a:latin typeface="Calibri"/>
              </a:rPr>
              <a:t>Statistical Analysis Pipeline</a:t>
            </a:r>
          </a:p>
        </p:txBody>
      </p:sp>
      <p:sp>
        <p:nvSpPr>
          <p:cNvPr id="4" name="TextBox 3"/>
          <p:cNvSpPr txBox="1"/>
          <p:nvPr/>
        </p:nvSpPr>
        <p:spPr>
          <a:xfrm>
            <a:off x="502920" y="749808"/>
            <a:ext cx="10725911" cy="329184"/>
          </a:xfrm>
          <a:prstGeom prst="rect">
            <a:avLst/>
          </a:prstGeom>
          <a:noFill/>
        </p:spPr>
        <p:txBody>
          <a:bodyPr wrap="square">
            <a:spAutoFit/>
          </a:bodyPr>
          <a:lstStyle/>
          <a:p>
            <a:pPr algn="l"/>
            <a:r>
              <a:rPr sz="1200" b="0" i="1">
                <a:solidFill>
                  <a:srgbClr val="00A3C4"/>
                </a:solidFill>
                <a:latin typeface="Calibri"/>
              </a:rPr>
              <a:t>Non-parametric tests throughout — scores are bounded in [0,1] and non-normal</a:t>
            </a:r>
          </a:p>
        </p:txBody>
      </p:sp>
      <p:sp>
        <p:nvSpPr>
          <p:cNvPr id="5" name="Rectangle 4"/>
          <p:cNvSpPr/>
          <p:nvPr/>
        </p:nvSpPr>
        <p:spPr>
          <a:xfrm>
            <a:off x="0" y="6492240"/>
            <a:ext cx="12188952" cy="36576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3"/>
            <a:ext cx="9144000" cy="274320"/>
          </a:xfrm>
          <a:prstGeom prst="rect">
            <a:avLst/>
          </a:prstGeom>
          <a:noFill/>
        </p:spPr>
        <p:txBody>
          <a:bodyPr wrap="square">
            <a:spAutoFit/>
          </a:bodyPr>
          <a:lstStyle/>
          <a:p>
            <a:pPr algn="l"/>
            <a:r>
              <a:rPr sz="900" b="0" i="0">
                <a:solidFill>
                  <a:srgbClr val="718096"/>
                </a:solidFill>
                <a:latin typeface="Calibri"/>
              </a:rPr>
              <a:t>CS 502 — Computational Biology  |  UIC  |  Spring 2026</a:t>
            </a:r>
          </a:p>
        </p:txBody>
      </p:sp>
      <p:sp>
        <p:nvSpPr>
          <p:cNvPr id="8" name="TextBox 7"/>
          <p:cNvSpPr txBox="1"/>
          <p:nvPr/>
        </p:nvSpPr>
        <p:spPr>
          <a:xfrm>
            <a:off x="11045952" y="6547103"/>
            <a:ext cx="640080" cy="274320"/>
          </a:xfrm>
          <a:prstGeom prst="rect">
            <a:avLst/>
          </a:prstGeom>
          <a:noFill/>
        </p:spPr>
        <p:txBody>
          <a:bodyPr wrap="square">
            <a:spAutoFit/>
          </a:bodyPr>
          <a:lstStyle/>
          <a:p>
            <a:pPr algn="r"/>
            <a:r>
              <a:rPr sz="900" b="1" i="0">
                <a:solidFill>
                  <a:srgbClr val="00A3C4"/>
                </a:solidFill>
                <a:latin typeface="Calibri"/>
              </a:rPr>
              <a:t>5 / 10</a:t>
            </a:r>
          </a:p>
        </p:txBody>
      </p:sp>
      <p:sp>
        <p:nvSpPr>
          <p:cNvPr id="9" name="Rectangle 8"/>
          <p:cNvSpPr/>
          <p:nvPr/>
        </p:nvSpPr>
        <p:spPr>
          <a:xfrm>
            <a:off x="502920" y="1143000"/>
            <a:ext cx="11183111" cy="877824"/>
          </a:xfrm>
          <a:prstGeom prst="rect">
            <a:avLst/>
          </a:prstGeom>
          <a:solidFill>
            <a:srgbClr val="E8F8FB"/>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143000"/>
            <a:ext cx="54864" cy="877824"/>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1325880"/>
            <a:ext cx="512064" cy="512064"/>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325880"/>
            <a:ext cx="512064" cy="512064"/>
          </a:xfrm>
          <a:prstGeom prst="rect">
            <a:avLst/>
          </a:prstGeom>
          <a:noFill/>
        </p:spPr>
        <p:txBody>
          <a:bodyPr wrap="square">
            <a:spAutoFit/>
          </a:bodyPr>
          <a:lstStyle/>
          <a:p>
            <a:pPr algn="ctr"/>
            <a:r>
              <a:rPr sz="1400" b="1" i="0">
                <a:solidFill>
                  <a:srgbClr val="FFFFFF"/>
                </a:solidFill>
                <a:latin typeface="Calibri"/>
              </a:rPr>
              <a:t>01</a:t>
            </a:r>
          </a:p>
        </p:txBody>
      </p:sp>
      <p:sp>
        <p:nvSpPr>
          <p:cNvPr id="13" name="TextBox 12"/>
          <p:cNvSpPr txBox="1"/>
          <p:nvPr/>
        </p:nvSpPr>
        <p:spPr>
          <a:xfrm>
            <a:off x="1252728" y="1234440"/>
            <a:ext cx="3840480" cy="347472"/>
          </a:xfrm>
          <a:prstGeom prst="rect">
            <a:avLst/>
          </a:prstGeom>
          <a:noFill/>
        </p:spPr>
        <p:txBody>
          <a:bodyPr wrap="square">
            <a:spAutoFit/>
          </a:bodyPr>
          <a:lstStyle/>
          <a:p>
            <a:pPr algn="l"/>
            <a:r>
              <a:rPr sz="1300" b="1" i="0">
                <a:solidFill>
                  <a:srgbClr val="00A3C4"/>
                </a:solidFill>
                <a:latin typeface="Calibri"/>
              </a:rPr>
              <a:t>Friedman Test</a:t>
            </a:r>
          </a:p>
        </p:txBody>
      </p:sp>
      <p:sp>
        <p:nvSpPr>
          <p:cNvPr id="14" name="TextBox 13"/>
          <p:cNvSpPr txBox="1"/>
          <p:nvPr/>
        </p:nvSpPr>
        <p:spPr>
          <a:xfrm>
            <a:off x="1252728" y="1600200"/>
            <a:ext cx="10268711" cy="347472"/>
          </a:xfrm>
          <a:prstGeom prst="rect">
            <a:avLst/>
          </a:prstGeom>
          <a:noFill/>
        </p:spPr>
        <p:txBody>
          <a:bodyPr wrap="square">
            <a:spAutoFit/>
          </a:bodyPr>
          <a:lstStyle/>
          <a:p>
            <a:pPr algn="l"/>
            <a:r>
              <a:rPr sz="1200" b="0" i="0">
                <a:solidFill>
                  <a:srgbClr val="2D3748"/>
                </a:solidFill>
                <a:latin typeface="Calibri"/>
              </a:rPr>
              <a:t>χ² = 935.73, df = 6, p &lt; 10⁻¹⁹⁹  —  global differences are certain, not borderline</a:t>
            </a:r>
          </a:p>
        </p:txBody>
      </p:sp>
      <p:sp>
        <p:nvSpPr>
          <p:cNvPr id="15" name="Rectangle 14"/>
          <p:cNvSpPr/>
          <p:nvPr/>
        </p:nvSpPr>
        <p:spPr>
          <a:xfrm>
            <a:off x="502920" y="2130552"/>
            <a:ext cx="11183111" cy="877824"/>
          </a:xfrm>
          <a:prstGeom prst="rect">
            <a:avLst/>
          </a:prstGeom>
          <a:solidFill>
            <a:srgbClr val="FFFFFF"/>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2130552"/>
            <a:ext cx="54864" cy="877824"/>
          </a:xfrm>
          <a:prstGeom prst="rect">
            <a:avLst/>
          </a:prstGeom>
          <a:solidFill>
            <a:srgbClr val="007A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2313432"/>
            <a:ext cx="512064" cy="512064"/>
          </a:xfrm>
          <a:prstGeom prst="rect">
            <a:avLst/>
          </a:prstGeom>
          <a:solidFill>
            <a:srgbClr val="007A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313432"/>
            <a:ext cx="512064" cy="512064"/>
          </a:xfrm>
          <a:prstGeom prst="rect">
            <a:avLst/>
          </a:prstGeom>
          <a:noFill/>
        </p:spPr>
        <p:txBody>
          <a:bodyPr wrap="square">
            <a:spAutoFit/>
          </a:bodyPr>
          <a:lstStyle/>
          <a:p>
            <a:pPr algn="ctr"/>
            <a:r>
              <a:rPr sz="1400" b="1" i="0">
                <a:solidFill>
                  <a:srgbClr val="FFFFFF"/>
                </a:solidFill>
                <a:latin typeface="Calibri"/>
              </a:rPr>
              <a:t>02</a:t>
            </a:r>
          </a:p>
        </p:txBody>
      </p:sp>
      <p:sp>
        <p:nvSpPr>
          <p:cNvPr id="19" name="TextBox 18"/>
          <p:cNvSpPr txBox="1"/>
          <p:nvPr/>
        </p:nvSpPr>
        <p:spPr>
          <a:xfrm>
            <a:off x="1252728" y="2221992"/>
            <a:ext cx="3840480" cy="347472"/>
          </a:xfrm>
          <a:prstGeom prst="rect">
            <a:avLst/>
          </a:prstGeom>
          <a:noFill/>
        </p:spPr>
        <p:txBody>
          <a:bodyPr wrap="square">
            <a:spAutoFit/>
          </a:bodyPr>
          <a:lstStyle/>
          <a:p>
            <a:pPr algn="l"/>
            <a:r>
              <a:rPr sz="1300" b="1" i="0">
                <a:solidFill>
                  <a:srgbClr val="007A94"/>
                </a:solidFill>
                <a:latin typeface="Calibri"/>
              </a:rPr>
              <a:t>Wilcoxon Signed-Rank + BH Correction</a:t>
            </a:r>
          </a:p>
        </p:txBody>
      </p:sp>
      <p:sp>
        <p:nvSpPr>
          <p:cNvPr id="20" name="TextBox 19"/>
          <p:cNvSpPr txBox="1"/>
          <p:nvPr/>
        </p:nvSpPr>
        <p:spPr>
          <a:xfrm>
            <a:off x="1252728" y="2587752"/>
            <a:ext cx="10268711" cy="347472"/>
          </a:xfrm>
          <a:prstGeom prst="rect">
            <a:avLst/>
          </a:prstGeom>
          <a:noFill/>
        </p:spPr>
        <p:txBody>
          <a:bodyPr wrap="square">
            <a:spAutoFit/>
          </a:bodyPr>
          <a:lstStyle/>
          <a:p>
            <a:pPr algn="l"/>
            <a:r>
              <a:rPr sz="1200" b="0" i="0">
                <a:solidFill>
                  <a:srgbClr val="2D3748"/>
                </a:solidFill>
                <a:latin typeface="Calibri"/>
              </a:rPr>
              <a:t>20 of 21 pairwise comparisons significant at FDR 5%  —  only FFT-NS-2 vs Kalign3 fails</a:t>
            </a:r>
          </a:p>
        </p:txBody>
      </p:sp>
      <p:sp>
        <p:nvSpPr>
          <p:cNvPr id="21" name="Rectangle 20"/>
          <p:cNvSpPr/>
          <p:nvPr/>
        </p:nvSpPr>
        <p:spPr>
          <a:xfrm>
            <a:off x="502920" y="3118104"/>
            <a:ext cx="11183111" cy="877824"/>
          </a:xfrm>
          <a:prstGeom prst="rect">
            <a:avLst/>
          </a:prstGeom>
          <a:solidFill>
            <a:srgbClr val="E8F8FB"/>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3118104"/>
            <a:ext cx="54864" cy="87782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4360" y="3300984"/>
            <a:ext cx="512064" cy="5120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3300984"/>
            <a:ext cx="512064" cy="512064"/>
          </a:xfrm>
          <a:prstGeom prst="rect">
            <a:avLst/>
          </a:prstGeom>
          <a:noFill/>
        </p:spPr>
        <p:txBody>
          <a:bodyPr wrap="square">
            <a:spAutoFit/>
          </a:bodyPr>
          <a:lstStyle/>
          <a:p>
            <a:pPr algn="ctr"/>
            <a:r>
              <a:rPr sz="1400" b="1" i="0">
                <a:solidFill>
                  <a:srgbClr val="FFFFFF"/>
                </a:solidFill>
                <a:latin typeface="Calibri"/>
              </a:rPr>
              <a:t>03</a:t>
            </a:r>
          </a:p>
        </p:txBody>
      </p:sp>
      <p:sp>
        <p:nvSpPr>
          <p:cNvPr id="25" name="TextBox 24"/>
          <p:cNvSpPr txBox="1"/>
          <p:nvPr/>
        </p:nvSpPr>
        <p:spPr>
          <a:xfrm>
            <a:off x="1252728" y="3209544"/>
            <a:ext cx="3840480" cy="347472"/>
          </a:xfrm>
          <a:prstGeom prst="rect">
            <a:avLst/>
          </a:prstGeom>
          <a:noFill/>
        </p:spPr>
        <p:txBody>
          <a:bodyPr wrap="square">
            <a:spAutoFit/>
          </a:bodyPr>
          <a:lstStyle/>
          <a:p>
            <a:pPr algn="l"/>
            <a:r>
              <a:rPr sz="1300" b="1" i="0">
                <a:solidFill>
                  <a:srgbClr val="27AE60"/>
                </a:solidFill>
                <a:latin typeface="Calibri"/>
              </a:rPr>
              <a:t>Cliff's δ Effect Size</a:t>
            </a:r>
          </a:p>
        </p:txBody>
      </p:sp>
      <p:sp>
        <p:nvSpPr>
          <p:cNvPr id="26" name="TextBox 25"/>
          <p:cNvSpPr txBox="1"/>
          <p:nvPr/>
        </p:nvSpPr>
        <p:spPr>
          <a:xfrm>
            <a:off x="1252728" y="3575304"/>
            <a:ext cx="10268711" cy="347472"/>
          </a:xfrm>
          <a:prstGeom prst="rect">
            <a:avLst/>
          </a:prstGeom>
          <a:noFill/>
        </p:spPr>
        <p:txBody>
          <a:bodyPr wrap="square">
            <a:spAutoFit/>
          </a:bodyPr>
          <a:lstStyle/>
          <a:p>
            <a:pPr algn="l"/>
            <a:r>
              <a:rPr sz="1200" b="0" i="0">
                <a:solidFill>
                  <a:srgbClr val="2D3748"/>
                </a:solidFill>
                <a:latin typeface="Calibri"/>
              </a:rPr>
              <a:t>All effects negligible–to–small  (max |δ| = 0.22)  —  real and consistent, but moderate per family</a:t>
            </a:r>
          </a:p>
        </p:txBody>
      </p:sp>
      <p:sp>
        <p:nvSpPr>
          <p:cNvPr id="27" name="Rectangle 26"/>
          <p:cNvSpPr/>
          <p:nvPr/>
        </p:nvSpPr>
        <p:spPr>
          <a:xfrm>
            <a:off x="502920" y="4105656"/>
            <a:ext cx="11183111" cy="877824"/>
          </a:xfrm>
          <a:prstGeom prst="rect">
            <a:avLst/>
          </a:prstGeom>
          <a:solidFill>
            <a:srgbClr val="FFFFFF"/>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4105656"/>
            <a:ext cx="54864" cy="877824"/>
          </a:xfrm>
          <a:prstGeom prst="rect">
            <a:avLst/>
          </a:prstGeom>
          <a:solidFill>
            <a:srgbClr val="D3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4360" y="4288536"/>
            <a:ext cx="512064" cy="512064"/>
          </a:xfrm>
          <a:prstGeom prst="rect">
            <a:avLst/>
          </a:prstGeom>
          <a:solidFill>
            <a:srgbClr val="D3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4288536"/>
            <a:ext cx="512064" cy="512064"/>
          </a:xfrm>
          <a:prstGeom prst="rect">
            <a:avLst/>
          </a:prstGeom>
          <a:noFill/>
        </p:spPr>
        <p:txBody>
          <a:bodyPr wrap="square">
            <a:spAutoFit/>
          </a:bodyPr>
          <a:lstStyle/>
          <a:p>
            <a:pPr algn="ctr"/>
            <a:r>
              <a:rPr sz="1400" b="1" i="0">
                <a:solidFill>
                  <a:srgbClr val="FFFFFF"/>
                </a:solidFill>
                <a:latin typeface="Calibri"/>
              </a:rPr>
              <a:t>04</a:t>
            </a:r>
          </a:p>
        </p:txBody>
      </p:sp>
      <p:sp>
        <p:nvSpPr>
          <p:cNvPr id="31" name="TextBox 30"/>
          <p:cNvSpPr txBox="1"/>
          <p:nvPr/>
        </p:nvSpPr>
        <p:spPr>
          <a:xfrm>
            <a:off x="1252728" y="4197096"/>
            <a:ext cx="3840480" cy="347472"/>
          </a:xfrm>
          <a:prstGeom prst="rect">
            <a:avLst/>
          </a:prstGeom>
          <a:noFill/>
        </p:spPr>
        <p:txBody>
          <a:bodyPr wrap="square">
            <a:spAutoFit/>
          </a:bodyPr>
          <a:lstStyle/>
          <a:p>
            <a:pPr algn="l"/>
            <a:r>
              <a:rPr sz="1300" b="1" i="0">
                <a:solidFill>
                  <a:srgbClr val="D37800"/>
                </a:solidFill>
                <a:latin typeface="Calibri"/>
              </a:rPr>
              <a:t>Nemenyi Post-hoc Test</a:t>
            </a:r>
          </a:p>
        </p:txBody>
      </p:sp>
      <p:sp>
        <p:nvSpPr>
          <p:cNvPr id="32" name="TextBox 31"/>
          <p:cNvSpPr txBox="1"/>
          <p:nvPr/>
        </p:nvSpPr>
        <p:spPr>
          <a:xfrm>
            <a:off x="1252728" y="4562856"/>
            <a:ext cx="10268711" cy="347472"/>
          </a:xfrm>
          <a:prstGeom prst="rect">
            <a:avLst/>
          </a:prstGeom>
          <a:noFill/>
        </p:spPr>
        <p:txBody>
          <a:bodyPr wrap="square">
            <a:spAutoFit/>
          </a:bodyPr>
          <a:lstStyle/>
          <a:p>
            <a:pPr algn="l"/>
            <a:r>
              <a:rPr sz="1200" b="0" i="0">
                <a:solidFill>
                  <a:srgbClr val="2D3748"/>
                </a:solidFill>
                <a:latin typeface="Calibri"/>
              </a:rPr>
              <a:t>Three distinct tiers identified. FFT-NS-2 and Kalign3 are statistically indistinguishable  (p = 0.524)</a:t>
            </a:r>
          </a:p>
        </p:txBody>
      </p:sp>
      <p:sp>
        <p:nvSpPr>
          <p:cNvPr id="33" name="Rectangle 32"/>
          <p:cNvSpPr/>
          <p:nvPr/>
        </p:nvSpPr>
        <p:spPr>
          <a:xfrm>
            <a:off x="502920" y="5093208"/>
            <a:ext cx="11183111" cy="877824"/>
          </a:xfrm>
          <a:prstGeom prst="rect">
            <a:avLst/>
          </a:prstGeom>
          <a:solidFill>
            <a:srgbClr val="E8F8FB"/>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5093208"/>
            <a:ext cx="54864" cy="877824"/>
          </a:xfrm>
          <a:prstGeom prst="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4360" y="5276088"/>
            <a:ext cx="512064" cy="512064"/>
          </a:xfrm>
          <a:prstGeom prst="rect">
            <a:avLst/>
          </a:prstGeom>
          <a:solidFill>
            <a:srgbClr val="6B4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5276088"/>
            <a:ext cx="512064" cy="512064"/>
          </a:xfrm>
          <a:prstGeom prst="rect">
            <a:avLst/>
          </a:prstGeom>
          <a:noFill/>
        </p:spPr>
        <p:txBody>
          <a:bodyPr wrap="square">
            <a:spAutoFit/>
          </a:bodyPr>
          <a:lstStyle/>
          <a:p>
            <a:pPr algn="ctr"/>
            <a:r>
              <a:rPr sz="1400" b="1" i="0">
                <a:solidFill>
                  <a:srgbClr val="FFFFFF"/>
                </a:solidFill>
                <a:latin typeface="Calibri"/>
              </a:rPr>
              <a:t>05</a:t>
            </a:r>
          </a:p>
        </p:txBody>
      </p:sp>
      <p:sp>
        <p:nvSpPr>
          <p:cNvPr id="37" name="TextBox 36"/>
          <p:cNvSpPr txBox="1"/>
          <p:nvPr/>
        </p:nvSpPr>
        <p:spPr>
          <a:xfrm>
            <a:off x="1252728" y="5184648"/>
            <a:ext cx="3840480" cy="347472"/>
          </a:xfrm>
          <a:prstGeom prst="rect">
            <a:avLst/>
          </a:prstGeom>
          <a:noFill/>
        </p:spPr>
        <p:txBody>
          <a:bodyPr wrap="square">
            <a:spAutoFit/>
          </a:bodyPr>
          <a:lstStyle/>
          <a:p>
            <a:pPr algn="l"/>
            <a:r>
              <a:rPr sz="1300" b="1" i="0">
                <a:solidFill>
                  <a:srgbClr val="6B46C1"/>
                </a:solidFill>
                <a:latin typeface="Calibri"/>
              </a:rPr>
              <a:t>Bootstrap 95% Confidence Intervals</a:t>
            </a:r>
          </a:p>
        </p:txBody>
      </p:sp>
      <p:sp>
        <p:nvSpPr>
          <p:cNvPr id="38" name="TextBox 37"/>
          <p:cNvSpPr txBox="1"/>
          <p:nvPr/>
        </p:nvSpPr>
        <p:spPr>
          <a:xfrm>
            <a:off x="1252728" y="5550408"/>
            <a:ext cx="10268711" cy="347472"/>
          </a:xfrm>
          <a:prstGeom prst="rect">
            <a:avLst/>
          </a:prstGeom>
          <a:noFill/>
        </p:spPr>
        <p:txBody>
          <a:bodyPr wrap="square">
            <a:spAutoFit/>
          </a:bodyPr>
          <a:lstStyle/>
          <a:p>
            <a:pPr algn="l"/>
            <a:r>
              <a:rPr sz="1200" b="0" i="0">
                <a:solidFill>
                  <a:srgbClr val="2D3748"/>
                </a:solidFill>
                <a:latin typeface="Calibri"/>
              </a:rPr>
              <a:t>10,000 resamples confirm tier orderings are stable across all six BAliBASE reference sets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83111" cy="658368"/>
          </a:xfrm>
          <a:prstGeom prst="rect">
            <a:avLst/>
          </a:prstGeom>
          <a:noFill/>
        </p:spPr>
        <p:txBody>
          <a:bodyPr wrap="square">
            <a:spAutoFit/>
          </a:bodyPr>
          <a:lstStyle/>
          <a:p>
            <a:pPr algn="l"/>
            <a:r>
              <a:rPr sz="2400" b="1" i="0">
                <a:solidFill>
                  <a:srgbClr val="2D3748"/>
                </a:solidFill>
                <a:latin typeface="Calibri"/>
              </a:rPr>
              <a:t>Key Results — Accuracy on BAliBASE 3.0</a:t>
            </a:r>
          </a:p>
        </p:txBody>
      </p:sp>
      <p:sp>
        <p:nvSpPr>
          <p:cNvPr id="4" name="TextBox 3"/>
          <p:cNvSpPr txBox="1"/>
          <p:nvPr/>
        </p:nvSpPr>
        <p:spPr>
          <a:xfrm>
            <a:off x="502920" y="749808"/>
            <a:ext cx="10725911" cy="329184"/>
          </a:xfrm>
          <a:prstGeom prst="rect">
            <a:avLst/>
          </a:prstGeom>
          <a:noFill/>
        </p:spPr>
        <p:txBody>
          <a:bodyPr wrap="square">
            <a:spAutoFit/>
          </a:bodyPr>
          <a:lstStyle/>
          <a:p>
            <a:pPr algn="l"/>
            <a:r>
              <a:rPr sz="1200" b="0" i="1">
                <a:solidFill>
                  <a:srgbClr val="00A3C4"/>
                </a:solidFill>
                <a:latin typeface="Calibri"/>
              </a:rPr>
              <a:t>Three statistically distinct performance tiers (Nemenyi post-hoc, α = 0.05)</a:t>
            </a:r>
          </a:p>
        </p:txBody>
      </p:sp>
      <p:sp>
        <p:nvSpPr>
          <p:cNvPr id="5" name="Rectangle 4"/>
          <p:cNvSpPr/>
          <p:nvPr/>
        </p:nvSpPr>
        <p:spPr>
          <a:xfrm>
            <a:off x="0" y="6492240"/>
            <a:ext cx="12188952" cy="36576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3"/>
            <a:ext cx="9144000" cy="274320"/>
          </a:xfrm>
          <a:prstGeom prst="rect">
            <a:avLst/>
          </a:prstGeom>
          <a:noFill/>
        </p:spPr>
        <p:txBody>
          <a:bodyPr wrap="square">
            <a:spAutoFit/>
          </a:bodyPr>
          <a:lstStyle/>
          <a:p>
            <a:pPr algn="l"/>
            <a:r>
              <a:rPr sz="900" b="0" i="0">
                <a:solidFill>
                  <a:srgbClr val="718096"/>
                </a:solidFill>
                <a:latin typeface="Calibri"/>
              </a:rPr>
              <a:t>CS 502 — Computational Biology  |  UIC  |  Spring 2026</a:t>
            </a:r>
          </a:p>
        </p:txBody>
      </p:sp>
      <p:sp>
        <p:nvSpPr>
          <p:cNvPr id="8" name="TextBox 7"/>
          <p:cNvSpPr txBox="1"/>
          <p:nvPr/>
        </p:nvSpPr>
        <p:spPr>
          <a:xfrm>
            <a:off x="11045952" y="6547103"/>
            <a:ext cx="640080" cy="274320"/>
          </a:xfrm>
          <a:prstGeom prst="rect">
            <a:avLst/>
          </a:prstGeom>
          <a:noFill/>
        </p:spPr>
        <p:txBody>
          <a:bodyPr wrap="square">
            <a:spAutoFit/>
          </a:bodyPr>
          <a:lstStyle/>
          <a:p>
            <a:pPr algn="r"/>
            <a:r>
              <a:rPr sz="900" b="1" i="0">
                <a:solidFill>
                  <a:srgbClr val="00A3C4"/>
                </a:solidFill>
                <a:latin typeface="Calibri"/>
              </a:rPr>
              <a:t>6 / 10</a:t>
            </a:r>
          </a:p>
        </p:txBody>
      </p:sp>
      <p:sp>
        <p:nvSpPr>
          <p:cNvPr id="9" name="Rectangle 8"/>
          <p:cNvSpPr/>
          <p:nvPr/>
        </p:nvSpPr>
        <p:spPr>
          <a:xfrm>
            <a:off x="502920" y="1143000"/>
            <a:ext cx="9144000" cy="457200"/>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1216152"/>
            <a:ext cx="1993391" cy="347472"/>
          </a:xfrm>
          <a:prstGeom prst="rect">
            <a:avLst/>
          </a:prstGeom>
          <a:noFill/>
        </p:spPr>
        <p:txBody>
          <a:bodyPr wrap="square">
            <a:spAutoFit/>
          </a:bodyPr>
          <a:lstStyle/>
          <a:p>
            <a:pPr algn="ctr"/>
            <a:r>
              <a:rPr sz="1100" b="1" i="0">
                <a:solidFill>
                  <a:srgbClr val="FFFFFF"/>
                </a:solidFill>
                <a:latin typeface="Calibri"/>
              </a:rPr>
              <a:t>Aligner</a:t>
            </a:r>
          </a:p>
        </p:txBody>
      </p:sp>
      <p:sp>
        <p:nvSpPr>
          <p:cNvPr id="11" name="TextBox 10"/>
          <p:cNvSpPr txBox="1"/>
          <p:nvPr/>
        </p:nvSpPr>
        <p:spPr>
          <a:xfrm>
            <a:off x="2679191" y="1216152"/>
            <a:ext cx="1719072" cy="347472"/>
          </a:xfrm>
          <a:prstGeom prst="rect">
            <a:avLst/>
          </a:prstGeom>
          <a:noFill/>
        </p:spPr>
        <p:txBody>
          <a:bodyPr wrap="square">
            <a:spAutoFit/>
          </a:bodyPr>
          <a:lstStyle/>
          <a:p>
            <a:pPr algn="ctr"/>
            <a:r>
              <a:rPr sz="1100" b="1" i="0">
                <a:solidFill>
                  <a:srgbClr val="FFFFFF"/>
                </a:solidFill>
                <a:latin typeface="Calibri"/>
              </a:rPr>
              <a:t>SP Mean ± SD</a:t>
            </a:r>
          </a:p>
        </p:txBody>
      </p:sp>
      <p:sp>
        <p:nvSpPr>
          <p:cNvPr id="12" name="TextBox 11"/>
          <p:cNvSpPr txBox="1"/>
          <p:nvPr/>
        </p:nvSpPr>
        <p:spPr>
          <a:xfrm>
            <a:off x="4507992" y="1216152"/>
            <a:ext cx="1719072" cy="347472"/>
          </a:xfrm>
          <a:prstGeom prst="rect">
            <a:avLst/>
          </a:prstGeom>
          <a:noFill/>
        </p:spPr>
        <p:txBody>
          <a:bodyPr wrap="square">
            <a:spAutoFit/>
          </a:bodyPr>
          <a:lstStyle/>
          <a:p>
            <a:pPr algn="ctr"/>
            <a:r>
              <a:rPr sz="1100" b="1" i="0">
                <a:solidFill>
                  <a:srgbClr val="FFFFFF"/>
                </a:solidFill>
                <a:latin typeface="Calibri"/>
              </a:rPr>
              <a:t>TC Mean ± SD</a:t>
            </a:r>
          </a:p>
        </p:txBody>
      </p:sp>
      <p:sp>
        <p:nvSpPr>
          <p:cNvPr id="13" name="TextBox 12"/>
          <p:cNvSpPr txBox="1"/>
          <p:nvPr/>
        </p:nvSpPr>
        <p:spPr>
          <a:xfrm>
            <a:off x="6336792" y="1216152"/>
            <a:ext cx="987552" cy="347472"/>
          </a:xfrm>
          <a:prstGeom prst="rect">
            <a:avLst/>
          </a:prstGeom>
          <a:noFill/>
        </p:spPr>
        <p:txBody>
          <a:bodyPr wrap="square">
            <a:spAutoFit/>
          </a:bodyPr>
          <a:lstStyle/>
          <a:p>
            <a:pPr algn="ctr"/>
            <a:r>
              <a:rPr sz="1100" b="1" i="0">
                <a:solidFill>
                  <a:srgbClr val="FFFFFF"/>
                </a:solidFill>
                <a:latin typeface="Calibri"/>
              </a:rPr>
              <a:t>Runtime</a:t>
            </a:r>
          </a:p>
        </p:txBody>
      </p:sp>
      <p:sp>
        <p:nvSpPr>
          <p:cNvPr id="14" name="TextBox 13"/>
          <p:cNvSpPr txBox="1"/>
          <p:nvPr/>
        </p:nvSpPr>
        <p:spPr>
          <a:xfrm>
            <a:off x="7434071" y="1216152"/>
            <a:ext cx="987552" cy="347472"/>
          </a:xfrm>
          <a:prstGeom prst="rect">
            <a:avLst/>
          </a:prstGeom>
          <a:noFill/>
        </p:spPr>
        <p:txBody>
          <a:bodyPr wrap="square">
            <a:spAutoFit/>
          </a:bodyPr>
          <a:lstStyle/>
          <a:p>
            <a:pPr algn="ctr"/>
            <a:r>
              <a:rPr sz="1100" b="1" i="0">
                <a:solidFill>
                  <a:srgbClr val="FFFFFF"/>
                </a:solidFill>
                <a:latin typeface="Calibri"/>
              </a:rPr>
              <a:t>Memory</a:t>
            </a:r>
          </a:p>
        </p:txBody>
      </p:sp>
      <p:sp>
        <p:nvSpPr>
          <p:cNvPr id="15" name="TextBox 14"/>
          <p:cNvSpPr txBox="1"/>
          <p:nvPr/>
        </p:nvSpPr>
        <p:spPr>
          <a:xfrm>
            <a:off x="8531351" y="1216152"/>
            <a:ext cx="1078992" cy="347472"/>
          </a:xfrm>
          <a:prstGeom prst="rect">
            <a:avLst/>
          </a:prstGeom>
          <a:noFill/>
        </p:spPr>
        <p:txBody>
          <a:bodyPr wrap="square">
            <a:spAutoFit/>
          </a:bodyPr>
          <a:lstStyle/>
          <a:p>
            <a:pPr algn="ctr"/>
            <a:r>
              <a:rPr sz="1100" b="1" i="0">
                <a:solidFill>
                  <a:srgbClr val="FFFFFF"/>
                </a:solidFill>
                <a:latin typeface="Calibri"/>
              </a:rPr>
              <a:t>Completed</a:t>
            </a:r>
          </a:p>
        </p:txBody>
      </p:sp>
      <p:sp>
        <p:nvSpPr>
          <p:cNvPr id="16" name="Rectangle 15"/>
          <p:cNvSpPr/>
          <p:nvPr/>
        </p:nvSpPr>
        <p:spPr>
          <a:xfrm>
            <a:off x="502920" y="1600200"/>
            <a:ext cx="9144000" cy="457200"/>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 y="1682496"/>
            <a:ext cx="1993391" cy="329184"/>
          </a:xfrm>
          <a:prstGeom prst="rect">
            <a:avLst/>
          </a:prstGeom>
          <a:noFill/>
        </p:spPr>
        <p:txBody>
          <a:bodyPr wrap="square">
            <a:spAutoFit/>
          </a:bodyPr>
          <a:lstStyle/>
          <a:p>
            <a:pPr algn="l"/>
            <a:r>
              <a:rPr sz="1100" b="1" i="0">
                <a:solidFill>
                  <a:srgbClr val="007A94"/>
                </a:solidFill>
                <a:latin typeface="Calibri"/>
              </a:rPr>
              <a:t>MUSCLE5</a:t>
            </a:r>
          </a:p>
        </p:txBody>
      </p:sp>
      <p:sp>
        <p:nvSpPr>
          <p:cNvPr id="18" name="TextBox 17"/>
          <p:cNvSpPr txBox="1"/>
          <p:nvPr/>
        </p:nvSpPr>
        <p:spPr>
          <a:xfrm>
            <a:off x="2679191" y="1682496"/>
            <a:ext cx="1719072" cy="329184"/>
          </a:xfrm>
          <a:prstGeom prst="rect">
            <a:avLst/>
          </a:prstGeom>
          <a:noFill/>
        </p:spPr>
        <p:txBody>
          <a:bodyPr wrap="square">
            <a:spAutoFit/>
          </a:bodyPr>
          <a:lstStyle/>
          <a:p>
            <a:pPr algn="ctr"/>
            <a:r>
              <a:rPr sz="1100" b="0" i="0">
                <a:solidFill>
                  <a:srgbClr val="2D3748"/>
                </a:solidFill>
                <a:latin typeface="Calibri"/>
              </a:rPr>
              <a:t>0.761 ± 0.174</a:t>
            </a:r>
          </a:p>
        </p:txBody>
      </p:sp>
      <p:sp>
        <p:nvSpPr>
          <p:cNvPr id="19" name="TextBox 18"/>
          <p:cNvSpPr txBox="1"/>
          <p:nvPr/>
        </p:nvSpPr>
        <p:spPr>
          <a:xfrm>
            <a:off x="4507992" y="1682496"/>
            <a:ext cx="1719072" cy="329184"/>
          </a:xfrm>
          <a:prstGeom prst="rect">
            <a:avLst/>
          </a:prstGeom>
          <a:noFill/>
        </p:spPr>
        <p:txBody>
          <a:bodyPr wrap="square">
            <a:spAutoFit/>
          </a:bodyPr>
          <a:lstStyle/>
          <a:p>
            <a:pPr algn="ctr"/>
            <a:r>
              <a:rPr sz="1100" b="0" i="0">
                <a:solidFill>
                  <a:srgbClr val="2D3748"/>
                </a:solidFill>
                <a:latin typeface="Calibri"/>
              </a:rPr>
              <a:t>0.399 ± 0.245</a:t>
            </a:r>
          </a:p>
        </p:txBody>
      </p:sp>
      <p:sp>
        <p:nvSpPr>
          <p:cNvPr id="20" name="TextBox 19"/>
          <p:cNvSpPr txBox="1"/>
          <p:nvPr/>
        </p:nvSpPr>
        <p:spPr>
          <a:xfrm>
            <a:off x="6336792" y="1682496"/>
            <a:ext cx="987552" cy="329184"/>
          </a:xfrm>
          <a:prstGeom prst="rect">
            <a:avLst/>
          </a:prstGeom>
          <a:noFill/>
        </p:spPr>
        <p:txBody>
          <a:bodyPr wrap="square">
            <a:spAutoFit/>
          </a:bodyPr>
          <a:lstStyle/>
          <a:p>
            <a:pPr algn="ctr"/>
            <a:r>
              <a:rPr sz="1100" b="0" i="0">
                <a:solidFill>
                  <a:srgbClr val="2D3748"/>
                </a:solidFill>
                <a:latin typeface="Calibri"/>
              </a:rPr>
              <a:t>0.52 s</a:t>
            </a:r>
          </a:p>
        </p:txBody>
      </p:sp>
      <p:sp>
        <p:nvSpPr>
          <p:cNvPr id="21" name="TextBox 20"/>
          <p:cNvSpPr txBox="1"/>
          <p:nvPr/>
        </p:nvSpPr>
        <p:spPr>
          <a:xfrm>
            <a:off x="7434071" y="1682496"/>
            <a:ext cx="987552" cy="329184"/>
          </a:xfrm>
          <a:prstGeom prst="rect">
            <a:avLst/>
          </a:prstGeom>
          <a:noFill/>
        </p:spPr>
        <p:txBody>
          <a:bodyPr wrap="square">
            <a:spAutoFit/>
          </a:bodyPr>
          <a:lstStyle/>
          <a:p>
            <a:pPr algn="ctr"/>
            <a:r>
              <a:rPr sz="1100" b="0" i="0">
                <a:solidFill>
                  <a:srgbClr val="2D3748"/>
                </a:solidFill>
                <a:latin typeface="Calibri"/>
              </a:rPr>
              <a:t>112 MB</a:t>
            </a:r>
          </a:p>
        </p:txBody>
      </p:sp>
      <p:sp>
        <p:nvSpPr>
          <p:cNvPr id="22" name="TextBox 21"/>
          <p:cNvSpPr txBox="1"/>
          <p:nvPr/>
        </p:nvSpPr>
        <p:spPr>
          <a:xfrm>
            <a:off x="8531351" y="1682496"/>
            <a:ext cx="1078992" cy="329184"/>
          </a:xfrm>
          <a:prstGeom prst="rect">
            <a:avLst/>
          </a:prstGeom>
          <a:noFill/>
        </p:spPr>
        <p:txBody>
          <a:bodyPr wrap="square">
            <a:spAutoFit/>
          </a:bodyPr>
          <a:lstStyle/>
          <a:p>
            <a:pPr algn="ctr"/>
            <a:r>
              <a:rPr sz="1100" b="0" i="0">
                <a:solidFill>
                  <a:srgbClr val="2D3748"/>
                </a:solidFill>
                <a:latin typeface="Calibri"/>
              </a:rPr>
              <a:t>386 / 386</a:t>
            </a:r>
          </a:p>
        </p:txBody>
      </p:sp>
      <p:sp>
        <p:nvSpPr>
          <p:cNvPr id="23" name="Rectangle 22"/>
          <p:cNvSpPr/>
          <p:nvPr/>
        </p:nvSpPr>
        <p:spPr>
          <a:xfrm>
            <a:off x="502920" y="2057400"/>
            <a:ext cx="91440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72" y="2139696"/>
            <a:ext cx="1993391" cy="329184"/>
          </a:xfrm>
          <a:prstGeom prst="rect">
            <a:avLst/>
          </a:prstGeom>
          <a:noFill/>
        </p:spPr>
        <p:txBody>
          <a:bodyPr wrap="square">
            <a:spAutoFit/>
          </a:bodyPr>
          <a:lstStyle/>
          <a:p>
            <a:pPr algn="l"/>
            <a:r>
              <a:rPr sz="1100" b="1" i="0">
                <a:solidFill>
                  <a:srgbClr val="007A94"/>
                </a:solidFill>
                <a:latin typeface="Calibri"/>
              </a:rPr>
              <a:t>T-Coffee</a:t>
            </a:r>
          </a:p>
        </p:txBody>
      </p:sp>
      <p:sp>
        <p:nvSpPr>
          <p:cNvPr id="25" name="TextBox 24"/>
          <p:cNvSpPr txBox="1"/>
          <p:nvPr/>
        </p:nvSpPr>
        <p:spPr>
          <a:xfrm>
            <a:off x="2679191" y="2139696"/>
            <a:ext cx="1719072" cy="329184"/>
          </a:xfrm>
          <a:prstGeom prst="rect">
            <a:avLst/>
          </a:prstGeom>
          <a:noFill/>
        </p:spPr>
        <p:txBody>
          <a:bodyPr wrap="square">
            <a:spAutoFit/>
          </a:bodyPr>
          <a:lstStyle/>
          <a:p>
            <a:pPr algn="ctr"/>
            <a:r>
              <a:rPr sz="1100" b="0" i="0">
                <a:solidFill>
                  <a:srgbClr val="2D3748"/>
                </a:solidFill>
                <a:latin typeface="Calibri"/>
              </a:rPr>
              <a:t>0.746 ± 0.182</a:t>
            </a:r>
          </a:p>
        </p:txBody>
      </p:sp>
      <p:sp>
        <p:nvSpPr>
          <p:cNvPr id="26" name="TextBox 25"/>
          <p:cNvSpPr txBox="1"/>
          <p:nvPr/>
        </p:nvSpPr>
        <p:spPr>
          <a:xfrm>
            <a:off x="4507992" y="2139696"/>
            <a:ext cx="1719072" cy="329184"/>
          </a:xfrm>
          <a:prstGeom prst="rect">
            <a:avLst/>
          </a:prstGeom>
          <a:noFill/>
        </p:spPr>
        <p:txBody>
          <a:bodyPr wrap="square">
            <a:spAutoFit/>
          </a:bodyPr>
          <a:lstStyle/>
          <a:p>
            <a:pPr algn="ctr"/>
            <a:r>
              <a:rPr sz="1100" b="0" i="0">
                <a:solidFill>
                  <a:srgbClr val="2D3748"/>
                </a:solidFill>
                <a:latin typeface="Calibri"/>
              </a:rPr>
              <a:t>0.394 ± 0.248</a:t>
            </a:r>
          </a:p>
        </p:txBody>
      </p:sp>
      <p:sp>
        <p:nvSpPr>
          <p:cNvPr id="27" name="TextBox 26"/>
          <p:cNvSpPr txBox="1"/>
          <p:nvPr/>
        </p:nvSpPr>
        <p:spPr>
          <a:xfrm>
            <a:off x="6336792" y="2139696"/>
            <a:ext cx="987552" cy="329184"/>
          </a:xfrm>
          <a:prstGeom prst="rect">
            <a:avLst/>
          </a:prstGeom>
          <a:noFill/>
        </p:spPr>
        <p:txBody>
          <a:bodyPr wrap="square">
            <a:spAutoFit/>
          </a:bodyPr>
          <a:lstStyle/>
          <a:p>
            <a:pPr algn="ctr"/>
            <a:r>
              <a:rPr sz="1100" b="0" i="0">
                <a:solidFill>
                  <a:srgbClr val="2D3748"/>
                </a:solidFill>
                <a:latin typeface="Calibri"/>
              </a:rPr>
              <a:t>5.30 s</a:t>
            </a:r>
          </a:p>
        </p:txBody>
      </p:sp>
      <p:sp>
        <p:nvSpPr>
          <p:cNvPr id="28" name="TextBox 27"/>
          <p:cNvSpPr txBox="1"/>
          <p:nvPr/>
        </p:nvSpPr>
        <p:spPr>
          <a:xfrm>
            <a:off x="7434071" y="2139696"/>
            <a:ext cx="987552" cy="329184"/>
          </a:xfrm>
          <a:prstGeom prst="rect">
            <a:avLst/>
          </a:prstGeom>
          <a:noFill/>
        </p:spPr>
        <p:txBody>
          <a:bodyPr wrap="square">
            <a:spAutoFit/>
          </a:bodyPr>
          <a:lstStyle/>
          <a:p>
            <a:pPr algn="ctr"/>
            <a:r>
              <a:rPr sz="1100" b="0" i="0">
                <a:solidFill>
                  <a:srgbClr val="2D3748"/>
                </a:solidFill>
                <a:latin typeface="Calibri"/>
              </a:rPr>
              <a:t>512 MB</a:t>
            </a:r>
          </a:p>
        </p:txBody>
      </p:sp>
      <p:sp>
        <p:nvSpPr>
          <p:cNvPr id="29" name="TextBox 28"/>
          <p:cNvSpPr txBox="1"/>
          <p:nvPr/>
        </p:nvSpPr>
        <p:spPr>
          <a:xfrm>
            <a:off x="8531351" y="2139696"/>
            <a:ext cx="1078992" cy="329184"/>
          </a:xfrm>
          <a:prstGeom prst="rect">
            <a:avLst/>
          </a:prstGeom>
          <a:noFill/>
        </p:spPr>
        <p:txBody>
          <a:bodyPr wrap="square">
            <a:spAutoFit/>
          </a:bodyPr>
          <a:lstStyle/>
          <a:p>
            <a:pPr algn="ctr"/>
            <a:r>
              <a:rPr sz="1100" b="0" i="0">
                <a:solidFill>
                  <a:srgbClr val="2D3748"/>
                </a:solidFill>
                <a:latin typeface="Calibri"/>
              </a:rPr>
              <a:t>342 / 386 †</a:t>
            </a:r>
          </a:p>
        </p:txBody>
      </p:sp>
      <p:sp>
        <p:nvSpPr>
          <p:cNvPr id="30" name="Rectangle 29"/>
          <p:cNvSpPr/>
          <p:nvPr/>
        </p:nvSpPr>
        <p:spPr>
          <a:xfrm>
            <a:off x="502920" y="2514600"/>
            <a:ext cx="9144000" cy="457200"/>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6072" y="2596896"/>
            <a:ext cx="1993391" cy="329184"/>
          </a:xfrm>
          <a:prstGeom prst="rect">
            <a:avLst/>
          </a:prstGeom>
          <a:noFill/>
        </p:spPr>
        <p:txBody>
          <a:bodyPr wrap="square">
            <a:spAutoFit/>
          </a:bodyPr>
          <a:lstStyle/>
          <a:p>
            <a:pPr algn="l"/>
            <a:r>
              <a:rPr sz="1100" b="1" i="0">
                <a:solidFill>
                  <a:srgbClr val="007A94"/>
                </a:solidFill>
                <a:latin typeface="Calibri"/>
              </a:rPr>
              <a:t>MAFFT L-INS-i</a:t>
            </a:r>
          </a:p>
        </p:txBody>
      </p:sp>
      <p:sp>
        <p:nvSpPr>
          <p:cNvPr id="32" name="TextBox 31"/>
          <p:cNvSpPr txBox="1"/>
          <p:nvPr/>
        </p:nvSpPr>
        <p:spPr>
          <a:xfrm>
            <a:off x="2679191" y="2596896"/>
            <a:ext cx="1719072" cy="329184"/>
          </a:xfrm>
          <a:prstGeom prst="rect">
            <a:avLst/>
          </a:prstGeom>
          <a:noFill/>
        </p:spPr>
        <p:txBody>
          <a:bodyPr wrap="square">
            <a:spAutoFit/>
          </a:bodyPr>
          <a:lstStyle/>
          <a:p>
            <a:pPr algn="ctr"/>
            <a:r>
              <a:rPr sz="1100" b="0" i="0">
                <a:solidFill>
                  <a:srgbClr val="2D3748"/>
                </a:solidFill>
                <a:latin typeface="Calibri"/>
              </a:rPr>
              <a:t>0.743 ± 0.188</a:t>
            </a:r>
          </a:p>
        </p:txBody>
      </p:sp>
      <p:sp>
        <p:nvSpPr>
          <p:cNvPr id="33" name="TextBox 32"/>
          <p:cNvSpPr txBox="1"/>
          <p:nvPr/>
        </p:nvSpPr>
        <p:spPr>
          <a:xfrm>
            <a:off x="4507992" y="2596896"/>
            <a:ext cx="1719072" cy="329184"/>
          </a:xfrm>
          <a:prstGeom prst="rect">
            <a:avLst/>
          </a:prstGeom>
          <a:noFill/>
        </p:spPr>
        <p:txBody>
          <a:bodyPr wrap="square">
            <a:spAutoFit/>
          </a:bodyPr>
          <a:lstStyle/>
          <a:p>
            <a:pPr algn="ctr"/>
            <a:r>
              <a:rPr sz="1100" b="0" i="0">
                <a:solidFill>
                  <a:srgbClr val="2D3748"/>
                </a:solidFill>
                <a:latin typeface="Calibri"/>
              </a:rPr>
              <a:t>0.379 ± 0.238</a:t>
            </a:r>
          </a:p>
        </p:txBody>
      </p:sp>
      <p:sp>
        <p:nvSpPr>
          <p:cNvPr id="34" name="TextBox 33"/>
          <p:cNvSpPr txBox="1"/>
          <p:nvPr/>
        </p:nvSpPr>
        <p:spPr>
          <a:xfrm>
            <a:off x="6336792" y="2596896"/>
            <a:ext cx="987552" cy="329184"/>
          </a:xfrm>
          <a:prstGeom prst="rect">
            <a:avLst/>
          </a:prstGeom>
          <a:noFill/>
        </p:spPr>
        <p:txBody>
          <a:bodyPr wrap="square">
            <a:spAutoFit/>
          </a:bodyPr>
          <a:lstStyle/>
          <a:p>
            <a:pPr algn="ctr"/>
            <a:r>
              <a:rPr sz="1100" b="0" i="0">
                <a:solidFill>
                  <a:srgbClr val="2D3748"/>
                </a:solidFill>
                <a:latin typeface="Calibri"/>
              </a:rPr>
              <a:t>0.88 s</a:t>
            </a:r>
          </a:p>
        </p:txBody>
      </p:sp>
      <p:sp>
        <p:nvSpPr>
          <p:cNvPr id="35" name="TextBox 34"/>
          <p:cNvSpPr txBox="1"/>
          <p:nvPr/>
        </p:nvSpPr>
        <p:spPr>
          <a:xfrm>
            <a:off x="7434071" y="2596896"/>
            <a:ext cx="987552" cy="329184"/>
          </a:xfrm>
          <a:prstGeom prst="rect">
            <a:avLst/>
          </a:prstGeom>
          <a:noFill/>
        </p:spPr>
        <p:txBody>
          <a:bodyPr wrap="square">
            <a:spAutoFit/>
          </a:bodyPr>
          <a:lstStyle/>
          <a:p>
            <a:pPr algn="ctr"/>
            <a:r>
              <a:rPr sz="1100" b="0" i="0">
                <a:solidFill>
                  <a:srgbClr val="2D3748"/>
                </a:solidFill>
                <a:latin typeface="Calibri"/>
              </a:rPr>
              <a:t> 13 MB</a:t>
            </a:r>
          </a:p>
        </p:txBody>
      </p:sp>
      <p:sp>
        <p:nvSpPr>
          <p:cNvPr id="36" name="TextBox 35"/>
          <p:cNvSpPr txBox="1"/>
          <p:nvPr/>
        </p:nvSpPr>
        <p:spPr>
          <a:xfrm>
            <a:off x="8531351" y="2596896"/>
            <a:ext cx="1078992" cy="329184"/>
          </a:xfrm>
          <a:prstGeom prst="rect">
            <a:avLst/>
          </a:prstGeom>
          <a:noFill/>
        </p:spPr>
        <p:txBody>
          <a:bodyPr wrap="square">
            <a:spAutoFit/>
          </a:bodyPr>
          <a:lstStyle/>
          <a:p>
            <a:pPr algn="ctr"/>
            <a:r>
              <a:rPr sz="1100" b="0" i="0">
                <a:solidFill>
                  <a:srgbClr val="2D3748"/>
                </a:solidFill>
                <a:latin typeface="Calibri"/>
              </a:rPr>
              <a:t>386 / 386</a:t>
            </a:r>
          </a:p>
        </p:txBody>
      </p:sp>
      <p:sp>
        <p:nvSpPr>
          <p:cNvPr id="37" name="Rectangle 36"/>
          <p:cNvSpPr/>
          <p:nvPr/>
        </p:nvSpPr>
        <p:spPr>
          <a:xfrm>
            <a:off x="502920" y="2971800"/>
            <a:ext cx="91440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6072" y="3054096"/>
            <a:ext cx="1993391" cy="329184"/>
          </a:xfrm>
          <a:prstGeom prst="rect">
            <a:avLst/>
          </a:prstGeom>
          <a:noFill/>
        </p:spPr>
        <p:txBody>
          <a:bodyPr wrap="square">
            <a:spAutoFit/>
          </a:bodyPr>
          <a:lstStyle/>
          <a:p>
            <a:pPr algn="l"/>
            <a:r>
              <a:rPr sz="1100" b="1" i="0">
                <a:solidFill>
                  <a:srgbClr val="007A94"/>
                </a:solidFill>
                <a:latin typeface="Calibri"/>
              </a:rPr>
              <a:t>Clustal Omega</a:t>
            </a:r>
          </a:p>
        </p:txBody>
      </p:sp>
      <p:sp>
        <p:nvSpPr>
          <p:cNvPr id="39" name="TextBox 38"/>
          <p:cNvSpPr txBox="1"/>
          <p:nvPr/>
        </p:nvSpPr>
        <p:spPr>
          <a:xfrm>
            <a:off x="2679191" y="3054096"/>
            <a:ext cx="1719072" cy="329184"/>
          </a:xfrm>
          <a:prstGeom prst="rect">
            <a:avLst/>
          </a:prstGeom>
          <a:noFill/>
        </p:spPr>
        <p:txBody>
          <a:bodyPr wrap="square">
            <a:spAutoFit/>
          </a:bodyPr>
          <a:lstStyle/>
          <a:p>
            <a:pPr algn="ctr"/>
            <a:r>
              <a:rPr sz="1100" b="0" i="0">
                <a:solidFill>
                  <a:srgbClr val="2D3748"/>
                </a:solidFill>
                <a:latin typeface="Calibri"/>
              </a:rPr>
              <a:t>0.718 ± 0.201</a:t>
            </a:r>
          </a:p>
        </p:txBody>
      </p:sp>
      <p:sp>
        <p:nvSpPr>
          <p:cNvPr id="40" name="TextBox 39"/>
          <p:cNvSpPr txBox="1"/>
          <p:nvPr/>
        </p:nvSpPr>
        <p:spPr>
          <a:xfrm>
            <a:off x="4507992" y="3054096"/>
            <a:ext cx="1719072" cy="329184"/>
          </a:xfrm>
          <a:prstGeom prst="rect">
            <a:avLst/>
          </a:prstGeom>
          <a:noFill/>
        </p:spPr>
        <p:txBody>
          <a:bodyPr wrap="square">
            <a:spAutoFit/>
          </a:bodyPr>
          <a:lstStyle/>
          <a:p>
            <a:pPr algn="ctr"/>
            <a:r>
              <a:rPr sz="1100" b="0" i="0">
                <a:solidFill>
                  <a:srgbClr val="2D3748"/>
                </a:solidFill>
                <a:latin typeface="Calibri"/>
              </a:rPr>
              <a:t>0.363 ± 0.240</a:t>
            </a:r>
          </a:p>
        </p:txBody>
      </p:sp>
      <p:sp>
        <p:nvSpPr>
          <p:cNvPr id="41" name="TextBox 40"/>
          <p:cNvSpPr txBox="1"/>
          <p:nvPr/>
        </p:nvSpPr>
        <p:spPr>
          <a:xfrm>
            <a:off x="6336792" y="3054096"/>
            <a:ext cx="987552" cy="329184"/>
          </a:xfrm>
          <a:prstGeom prst="rect">
            <a:avLst/>
          </a:prstGeom>
          <a:noFill/>
        </p:spPr>
        <p:txBody>
          <a:bodyPr wrap="square">
            <a:spAutoFit/>
          </a:bodyPr>
          <a:lstStyle/>
          <a:p>
            <a:pPr algn="ctr"/>
            <a:r>
              <a:rPr sz="1100" b="0" i="0">
                <a:solidFill>
                  <a:srgbClr val="2D3748"/>
                </a:solidFill>
                <a:latin typeface="Calibri"/>
              </a:rPr>
              <a:t>0.64 s</a:t>
            </a:r>
          </a:p>
        </p:txBody>
      </p:sp>
      <p:sp>
        <p:nvSpPr>
          <p:cNvPr id="42" name="TextBox 41"/>
          <p:cNvSpPr txBox="1"/>
          <p:nvPr/>
        </p:nvSpPr>
        <p:spPr>
          <a:xfrm>
            <a:off x="7434071" y="3054096"/>
            <a:ext cx="987552" cy="329184"/>
          </a:xfrm>
          <a:prstGeom prst="rect">
            <a:avLst/>
          </a:prstGeom>
          <a:noFill/>
        </p:spPr>
        <p:txBody>
          <a:bodyPr wrap="square">
            <a:spAutoFit/>
          </a:bodyPr>
          <a:lstStyle/>
          <a:p>
            <a:pPr algn="ctr"/>
            <a:r>
              <a:rPr sz="1100" b="0" i="0">
                <a:solidFill>
                  <a:srgbClr val="2D3748"/>
                </a:solidFill>
                <a:latin typeface="Calibri"/>
              </a:rPr>
              <a:t> 16 MB</a:t>
            </a:r>
          </a:p>
        </p:txBody>
      </p:sp>
      <p:sp>
        <p:nvSpPr>
          <p:cNvPr id="43" name="TextBox 42"/>
          <p:cNvSpPr txBox="1"/>
          <p:nvPr/>
        </p:nvSpPr>
        <p:spPr>
          <a:xfrm>
            <a:off x="8531351" y="3054096"/>
            <a:ext cx="1078992" cy="329184"/>
          </a:xfrm>
          <a:prstGeom prst="rect">
            <a:avLst/>
          </a:prstGeom>
          <a:noFill/>
        </p:spPr>
        <p:txBody>
          <a:bodyPr wrap="square">
            <a:spAutoFit/>
          </a:bodyPr>
          <a:lstStyle/>
          <a:p>
            <a:pPr algn="ctr"/>
            <a:r>
              <a:rPr sz="1100" b="0" i="0">
                <a:solidFill>
                  <a:srgbClr val="2D3748"/>
                </a:solidFill>
                <a:latin typeface="Calibri"/>
              </a:rPr>
              <a:t>386 / 386</a:t>
            </a:r>
          </a:p>
        </p:txBody>
      </p:sp>
      <p:sp>
        <p:nvSpPr>
          <p:cNvPr id="44" name="Rectangle 43"/>
          <p:cNvSpPr/>
          <p:nvPr/>
        </p:nvSpPr>
        <p:spPr>
          <a:xfrm>
            <a:off x="502920" y="3429000"/>
            <a:ext cx="9144000" cy="457200"/>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 y="3511296"/>
            <a:ext cx="1993391" cy="329184"/>
          </a:xfrm>
          <a:prstGeom prst="rect">
            <a:avLst/>
          </a:prstGeom>
          <a:noFill/>
        </p:spPr>
        <p:txBody>
          <a:bodyPr wrap="square">
            <a:spAutoFit/>
          </a:bodyPr>
          <a:lstStyle/>
          <a:p>
            <a:pPr algn="l"/>
            <a:r>
              <a:rPr sz="1100" b="1" i="0">
                <a:solidFill>
                  <a:srgbClr val="007A94"/>
                </a:solidFill>
                <a:latin typeface="Calibri"/>
              </a:rPr>
              <a:t>FAMSA</a:t>
            </a:r>
          </a:p>
        </p:txBody>
      </p:sp>
      <p:sp>
        <p:nvSpPr>
          <p:cNvPr id="46" name="TextBox 45"/>
          <p:cNvSpPr txBox="1"/>
          <p:nvPr/>
        </p:nvSpPr>
        <p:spPr>
          <a:xfrm>
            <a:off x="2679191" y="3511296"/>
            <a:ext cx="1719072" cy="329184"/>
          </a:xfrm>
          <a:prstGeom prst="rect">
            <a:avLst/>
          </a:prstGeom>
          <a:noFill/>
        </p:spPr>
        <p:txBody>
          <a:bodyPr wrap="square">
            <a:spAutoFit/>
          </a:bodyPr>
          <a:lstStyle/>
          <a:p>
            <a:pPr algn="ctr"/>
            <a:r>
              <a:rPr sz="1100" b="0" i="0">
                <a:solidFill>
                  <a:srgbClr val="2D3748"/>
                </a:solidFill>
                <a:latin typeface="Calibri"/>
              </a:rPr>
              <a:t>0.718 ± 0.199</a:t>
            </a:r>
          </a:p>
        </p:txBody>
      </p:sp>
      <p:sp>
        <p:nvSpPr>
          <p:cNvPr id="47" name="TextBox 46"/>
          <p:cNvSpPr txBox="1"/>
          <p:nvPr/>
        </p:nvSpPr>
        <p:spPr>
          <a:xfrm>
            <a:off x="4507992" y="3511296"/>
            <a:ext cx="1719072" cy="329184"/>
          </a:xfrm>
          <a:prstGeom prst="rect">
            <a:avLst/>
          </a:prstGeom>
          <a:noFill/>
        </p:spPr>
        <p:txBody>
          <a:bodyPr wrap="square">
            <a:spAutoFit/>
          </a:bodyPr>
          <a:lstStyle/>
          <a:p>
            <a:pPr algn="ctr"/>
            <a:r>
              <a:rPr sz="1100" b="0" i="0">
                <a:solidFill>
                  <a:srgbClr val="2D3748"/>
                </a:solidFill>
                <a:latin typeface="Calibri"/>
              </a:rPr>
              <a:t>0.357 ± 0.257</a:t>
            </a:r>
          </a:p>
        </p:txBody>
      </p:sp>
      <p:sp>
        <p:nvSpPr>
          <p:cNvPr id="48" name="TextBox 47"/>
          <p:cNvSpPr txBox="1"/>
          <p:nvPr/>
        </p:nvSpPr>
        <p:spPr>
          <a:xfrm>
            <a:off x="6336792" y="3511296"/>
            <a:ext cx="987552" cy="329184"/>
          </a:xfrm>
          <a:prstGeom prst="rect">
            <a:avLst/>
          </a:prstGeom>
          <a:noFill/>
        </p:spPr>
        <p:txBody>
          <a:bodyPr wrap="square">
            <a:spAutoFit/>
          </a:bodyPr>
          <a:lstStyle/>
          <a:p>
            <a:pPr algn="ctr"/>
            <a:r>
              <a:rPr sz="1100" b="0" i="0">
                <a:solidFill>
                  <a:srgbClr val="2D3748"/>
                </a:solidFill>
                <a:latin typeface="Calibri"/>
              </a:rPr>
              <a:t>0.19 s</a:t>
            </a:r>
          </a:p>
        </p:txBody>
      </p:sp>
      <p:sp>
        <p:nvSpPr>
          <p:cNvPr id="49" name="TextBox 48"/>
          <p:cNvSpPr txBox="1"/>
          <p:nvPr/>
        </p:nvSpPr>
        <p:spPr>
          <a:xfrm>
            <a:off x="7434071" y="3511296"/>
            <a:ext cx="987552" cy="329184"/>
          </a:xfrm>
          <a:prstGeom prst="rect">
            <a:avLst/>
          </a:prstGeom>
          <a:noFill/>
        </p:spPr>
        <p:txBody>
          <a:bodyPr wrap="square">
            <a:spAutoFit/>
          </a:bodyPr>
          <a:lstStyle/>
          <a:p>
            <a:pPr algn="ctr"/>
            <a:r>
              <a:rPr sz="1100" b="0" i="0">
                <a:solidFill>
                  <a:srgbClr val="2D3748"/>
                </a:solidFill>
                <a:latin typeface="Calibri"/>
              </a:rPr>
              <a:t> 17 MB</a:t>
            </a:r>
          </a:p>
        </p:txBody>
      </p:sp>
      <p:sp>
        <p:nvSpPr>
          <p:cNvPr id="50" name="TextBox 49"/>
          <p:cNvSpPr txBox="1"/>
          <p:nvPr/>
        </p:nvSpPr>
        <p:spPr>
          <a:xfrm>
            <a:off x="8531351" y="3511296"/>
            <a:ext cx="1078992" cy="329184"/>
          </a:xfrm>
          <a:prstGeom prst="rect">
            <a:avLst/>
          </a:prstGeom>
          <a:noFill/>
        </p:spPr>
        <p:txBody>
          <a:bodyPr wrap="square">
            <a:spAutoFit/>
          </a:bodyPr>
          <a:lstStyle/>
          <a:p>
            <a:pPr algn="ctr"/>
            <a:r>
              <a:rPr sz="1100" b="0" i="0">
                <a:solidFill>
                  <a:srgbClr val="2D3748"/>
                </a:solidFill>
                <a:latin typeface="Calibri"/>
              </a:rPr>
              <a:t>386 / 386</a:t>
            </a:r>
          </a:p>
        </p:txBody>
      </p:sp>
      <p:sp>
        <p:nvSpPr>
          <p:cNvPr id="51" name="Rectangle 50"/>
          <p:cNvSpPr/>
          <p:nvPr/>
        </p:nvSpPr>
        <p:spPr>
          <a:xfrm>
            <a:off x="502920" y="3886200"/>
            <a:ext cx="91440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76072" y="3968496"/>
            <a:ext cx="1993391" cy="329184"/>
          </a:xfrm>
          <a:prstGeom prst="rect">
            <a:avLst/>
          </a:prstGeom>
          <a:noFill/>
        </p:spPr>
        <p:txBody>
          <a:bodyPr wrap="square">
            <a:spAutoFit/>
          </a:bodyPr>
          <a:lstStyle/>
          <a:p>
            <a:pPr algn="l"/>
            <a:r>
              <a:rPr sz="1100" b="1" i="0">
                <a:solidFill>
                  <a:srgbClr val="007A94"/>
                </a:solidFill>
                <a:latin typeface="Calibri"/>
              </a:rPr>
              <a:t>Kalign3</a:t>
            </a:r>
          </a:p>
        </p:txBody>
      </p:sp>
      <p:sp>
        <p:nvSpPr>
          <p:cNvPr id="53" name="TextBox 52"/>
          <p:cNvSpPr txBox="1"/>
          <p:nvPr/>
        </p:nvSpPr>
        <p:spPr>
          <a:xfrm>
            <a:off x="2679191" y="3968496"/>
            <a:ext cx="1719072" cy="329184"/>
          </a:xfrm>
          <a:prstGeom prst="rect">
            <a:avLst/>
          </a:prstGeom>
          <a:noFill/>
        </p:spPr>
        <p:txBody>
          <a:bodyPr wrap="square">
            <a:spAutoFit/>
          </a:bodyPr>
          <a:lstStyle/>
          <a:p>
            <a:pPr algn="ctr"/>
            <a:r>
              <a:rPr sz="1100" b="0" i="0">
                <a:solidFill>
                  <a:srgbClr val="2D3748"/>
                </a:solidFill>
                <a:latin typeface="Calibri"/>
              </a:rPr>
              <a:t>0.692 ± 0.209</a:t>
            </a:r>
          </a:p>
        </p:txBody>
      </p:sp>
      <p:sp>
        <p:nvSpPr>
          <p:cNvPr id="54" name="TextBox 53"/>
          <p:cNvSpPr txBox="1"/>
          <p:nvPr/>
        </p:nvSpPr>
        <p:spPr>
          <a:xfrm>
            <a:off x="4507992" y="3968496"/>
            <a:ext cx="1719072" cy="329184"/>
          </a:xfrm>
          <a:prstGeom prst="rect">
            <a:avLst/>
          </a:prstGeom>
          <a:noFill/>
        </p:spPr>
        <p:txBody>
          <a:bodyPr wrap="square">
            <a:spAutoFit/>
          </a:bodyPr>
          <a:lstStyle/>
          <a:p>
            <a:pPr algn="ctr"/>
            <a:r>
              <a:rPr sz="1100" b="0" i="0">
                <a:solidFill>
                  <a:srgbClr val="2D3748"/>
                </a:solidFill>
                <a:latin typeface="Calibri"/>
              </a:rPr>
              <a:t>0.322 ± 0.245</a:t>
            </a:r>
          </a:p>
        </p:txBody>
      </p:sp>
      <p:sp>
        <p:nvSpPr>
          <p:cNvPr id="55" name="TextBox 54"/>
          <p:cNvSpPr txBox="1"/>
          <p:nvPr/>
        </p:nvSpPr>
        <p:spPr>
          <a:xfrm>
            <a:off x="6336792" y="3968496"/>
            <a:ext cx="987552" cy="329184"/>
          </a:xfrm>
          <a:prstGeom prst="rect">
            <a:avLst/>
          </a:prstGeom>
          <a:noFill/>
        </p:spPr>
        <p:txBody>
          <a:bodyPr wrap="square">
            <a:spAutoFit/>
          </a:bodyPr>
          <a:lstStyle/>
          <a:p>
            <a:pPr algn="ctr"/>
            <a:r>
              <a:rPr sz="1100" b="0" i="0">
                <a:solidFill>
                  <a:srgbClr val="2D3748"/>
                </a:solidFill>
                <a:latin typeface="Calibri"/>
              </a:rPr>
              <a:t>0.06 s</a:t>
            </a:r>
          </a:p>
        </p:txBody>
      </p:sp>
      <p:sp>
        <p:nvSpPr>
          <p:cNvPr id="56" name="TextBox 55"/>
          <p:cNvSpPr txBox="1"/>
          <p:nvPr/>
        </p:nvSpPr>
        <p:spPr>
          <a:xfrm>
            <a:off x="7434071" y="3968496"/>
            <a:ext cx="987552" cy="329184"/>
          </a:xfrm>
          <a:prstGeom prst="rect">
            <a:avLst/>
          </a:prstGeom>
          <a:noFill/>
        </p:spPr>
        <p:txBody>
          <a:bodyPr wrap="square">
            <a:spAutoFit/>
          </a:bodyPr>
          <a:lstStyle/>
          <a:p>
            <a:pPr algn="ctr"/>
            <a:r>
              <a:rPr sz="1100" b="0" i="0">
                <a:solidFill>
                  <a:srgbClr val="2D3748"/>
                </a:solidFill>
                <a:latin typeface="Calibri"/>
              </a:rPr>
              <a:t>  5 MB</a:t>
            </a:r>
          </a:p>
        </p:txBody>
      </p:sp>
      <p:sp>
        <p:nvSpPr>
          <p:cNvPr id="57" name="TextBox 56"/>
          <p:cNvSpPr txBox="1"/>
          <p:nvPr/>
        </p:nvSpPr>
        <p:spPr>
          <a:xfrm>
            <a:off x="8531351" y="3968496"/>
            <a:ext cx="1078992" cy="329184"/>
          </a:xfrm>
          <a:prstGeom prst="rect">
            <a:avLst/>
          </a:prstGeom>
          <a:noFill/>
        </p:spPr>
        <p:txBody>
          <a:bodyPr wrap="square">
            <a:spAutoFit/>
          </a:bodyPr>
          <a:lstStyle/>
          <a:p>
            <a:pPr algn="ctr"/>
            <a:r>
              <a:rPr sz="1100" b="0" i="0">
                <a:solidFill>
                  <a:srgbClr val="2D3748"/>
                </a:solidFill>
                <a:latin typeface="Calibri"/>
              </a:rPr>
              <a:t>385 / 386</a:t>
            </a:r>
          </a:p>
        </p:txBody>
      </p:sp>
      <p:sp>
        <p:nvSpPr>
          <p:cNvPr id="58" name="Rectangle 57"/>
          <p:cNvSpPr/>
          <p:nvPr/>
        </p:nvSpPr>
        <p:spPr>
          <a:xfrm>
            <a:off x="502920" y="4343400"/>
            <a:ext cx="9144000" cy="457200"/>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76072" y="4425696"/>
            <a:ext cx="1993391" cy="329184"/>
          </a:xfrm>
          <a:prstGeom prst="rect">
            <a:avLst/>
          </a:prstGeom>
          <a:noFill/>
        </p:spPr>
        <p:txBody>
          <a:bodyPr wrap="square">
            <a:spAutoFit/>
          </a:bodyPr>
          <a:lstStyle/>
          <a:p>
            <a:pPr algn="l"/>
            <a:r>
              <a:rPr sz="1100" b="1" i="0">
                <a:solidFill>
                  <a:srgbClr val="007A94"/>
                </a:solidFill>
                <a:latin typeface="Calibri"/>
              </a:rPr>
              <a:t>MAFFT FFT-NS-2</a:t>
            </a:r>
          </a:p>
        </p:txBody>
      </p:sp>
      <p:sp>
        <p:nvSpPr>
          <p:cNvPr id="60" name="TextBox 59"/>
          <p:cNvSpPr txBox="1"/>
          <p:nvPr/>
        </p:nvSpPr>
        <p:spPr>
          <a:xfrm>
            <a:off x="2679191" y="4425696"/>
            <a:ext cx="1719072" cy="329184"/>
          </a:xfrm>
          <a:prstGeom prst="rect">
            <a:avLst/>
          </a:prstGeom>
          <a:noFill/>
        </p:spPr>
        <p:txBody>
          <a:bodyPr wrap="square">
            <a:spAutoFit/>
          </a:bodyPr>
          <a:lstStyle/>
          <a:p>
            <a:pPr algn="ctr"/>
            <a:r>
              <a:rPr sz="1100" b="0" i="0">
                <a:solidFill>
                  <a:srgbClr val="2D3748"/>
                </a:solidFill>
                <a:latin typeface="Calibri"/>
              </a:rPr>
              <a:t>0.688 ± 0.205</a:t>
            </a:r>
          </a:p>
        </p:txBody>
      </p:sp>
      <p:sp>
        <p:nvSpPr>
          <p:cNvPr id="61" name="TextBox 60"/>
          <p:cNvSpPr txBox="1"/>
          <p:nvPr/>
        </p:nvSpPr>
        <p:spPr>
          <a:xfrm>
            <a:off x="4507992" y="4425696"/>
            <a:ext cx="1719072" cy="329184"/>
          </a:xfrm>
          <a:prstGeom prst="rect">
            <a:avLst/>
          </a:prstGeom>
          <a:noFill/>
        </p:spPr>
        <p:txBody>
          <a:bodyPr wrap="square">
            <a:spAutoFit/>
          </a:bodyPr>
          <a:lstStyle/>
          <a:p>
            <a:pPr algn="ctr"/>
            <a:r>
              <a:rPr sz="1100" b="0" i="0">
                <a:solidFill>
                  <a:srgbClr val="2D3748"/>
                </a:solidFill>
                <a:latin typeface="Calibri"/>
              </a:rPr>
              <a:t>0.315 ± 0.233</a:t>
            </a:r>
          </a:p>
        </p:txBody>
      </p:sp>
      <p:sp>
        <p:nvSpPr>
          <p:cNvPr id="62" name="TextBox 61"/>
          <p:cNvSpPr txBox="1"/>
          <p:nvPr/>
        </p:nvSpPr>
        <p:spPr>
          <a:xfrm>
            <a:off x="6336792" y="4425696"/>
            <a:ext cx="987552" cy="329184"/>
          </a:xfrm>
          <a:prstGeom prst="rect">
            <a:avLst/>
          </a:prstGeom>
          <a:noFill/>
        </p:spPr>
        <p:txBody>
          <a:bodyPr wrap="square">
            <a:spAutoFit/>
          </a:bodyPr>
          <a:lstStyle/>
          <a:p>
            <a:pPr algn="ctr"/>
            <a:r>
              <a:rPr sz="1100" b="0" i="0">
                <a:solidFill>
                  <a:srgbClr val="2D3748"/>
                </a:solidFill>
                <a:latin typeface="Calibri"/>
              </a:rPr>
              <a:t>0.55 s</a:t>
            </a:r>
          </a:p>
        </p:txBody>
      </p:sp>
      <p:sp>
        <p:nvSpPr>
          <p:cNvPr id="63" name="TextBox 62"/>
          <p:cNvSpPr txBox="1"/>
          <p:nvPr/>
        </p:nvSpPr>
        <p:spPr>
          <a:xfrm>
            <a:off x="7434071" y="4425696"/>
            <a:ext cx="987552" cy="329184"/>
          </a:xfrm>
          <a:prstGeom prst="rect">
            <a:avLst/>
          </a:prstGeom>
          <a:noFill/>
        </p:spPr>
        <p:txBody>
          <a:bodyPr wrap="square">
            <a:spAutoFit/>
          </a:bodyPr>
          <a:lstStyle/>
          <a:p>
            <a:pPr algn="ctr"/>
            <a:r>
              <a:rPr sz="1100" b="0" i="0">
                <a:solidFill>
                  <a:srgbClr val="2D3748"/>
                </a:solidFill>
                <a:latin typeface="Calibri"/>
              </a:rPr>
              <a:t> 23 MB</a:t>
            </a:r>
          </a:p>
        </p:txBody>
      </p:sp>
      <p:sp>
        <p:nvSpPr>
          <p:cNvPr id="64" name="TextBox 63"/>
          <p:cNvSpPr txBox="1"/>
          <p:nvPr/>
        </p:nvSpPr>
        <p:spPr>
          <a:xfrm>
            <a:off x="8531351" y="4425696"/>
            <a:ext cx="1078992" cy="329184"/>
          </a:xfrm>
          <a:prstGeom prst="rect">
            <a:avLst/>
          </a:prstGeom>
          <a:noFill/>
        </p:spPr>
        <p:txBody>
          <a:bodyPr wrap="square">
            <a:spAutoFit/>
          </a:bodyPr>
          <a:lstStyle/>
          <a:p>
            <a:pPr algn="ctr"/>
            <a:r>
              <a:rPr sz="1100" b="0" i="0">
                <a:solidFill>
                  <a:srgbClr val="2D3748"/>
                </a:solidFill>
                <a:latin typeface="Calibri"/>
              </a:rPr>
              <a:t>386 / 386</a:t>
            </a:r>
          </a:p>
        </p:txBody>
      </p:sp>
      <p:sp>
        <p:nvSpPr>
          <p:cNvPr id="65" name="TextBox 64"/>
          <p:cNvSpPr txBox="1"/>
          <p:nvPr/>
        </p:nvSpPr>
        <p:spPr>
          <a:xfrm>
            <a:off x="502920" y="4873752"/>
            <a:ext cx="9144000" cy="256032"/>
          </a:xfrm>
          <a:prstGeom prst="rect">
            <a:avLst/>
          </a:prstGeom>
          <a:noFill/>
        </p:spPr>
        <p:txBody>
          <a:bodyPr wrap="square">
            <a:spAutoFit/>
          </a:bodyPr>
          <a:lstStyle/>
          <a:p>
            <a:pPr algn="l"/>
            <a:r>
              <a:rPr sz="900" b="0" i="1">
                <a:solidFill>
                  <a:srgbClr val="718096"/>
                </a:solidFill>
                <a:latin typeface="Calibri"/>
              </a:rPr>
              <a:t>† T-Coffee: 44 / 386 problems timed out (&gt; 200 s) on large-sequence reference sets</a:t>
            </a:r>
          </a:p>
        </p:txBody>
      </p:sp>
      <p:sp>
        <p:nvSpPr>
          <p:cNvPr id="66" name="Rectangle 65"/>
          <p:cNvSpPr/>
          <p:nvPr/>
        </p:nvSpPr>
        <p:spPr>
          <a:xfrm>
            <a:off x="9966960" y="1143000"/>
            <a:ext cx="1719071" cy="1170432"/>
          </a:xfrm>
          <a:prstGeom prst="rect">
            <a:avLst/>
          </a:prstGeom>
          <a:solidFill>
            <a:srgbClr val="E8F8FB"/>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966960" y="1143000"/>
            <a:ext cx="1719071" cy="54864"/>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76688" y="1234440"/>
            <a:ext cx="1536191" cy="274320"/>
          </a:xfrm>
          <a:prstGeom prst="rect">
            <a:avLst/>
          </a:prstGeom>
          <a:noFill/>
        </p:spPr>
        <p:txBody>
          <a:bodyPr wrap="square">
            <a:spAutoFit/>
          </a:bodyPr>
          <a:lstStyle/>
          <a:p>
            <a:pPr algn="l"/>
            <a:r>
              <a:rPr sz="1000" b="1" i="0">
                <a:solidFill>
                  <a:srgbClr val="00A3C4"/>
                </a:solidFill>
                <a:latin typeface="Calibri"/>
              </a:rPr>
              <a:t>TOP TIER</a:t>
            </a:r>
          </a:p>
        </p:txBody>
      </p:sp>
      <p:sp>
        <p:nvSpPr>
          <p:cNvPr id="69" name="TextBox 68"/>
          <p:cNvSpPr txBox="1"/>
          <p:nvPr/>
        </p:nvSpPr>
        <p:spPr>
          <a:xfrm>
            <a:off x="10076688" y="1545336"/>
            <a:ext cx="1536191" cy="658368"/>
          </a:xfrm>
          <a:prstGeom prst="rect">
            <a:avLst/>
          </a:prstGeom>
          <a:noFill/>
        </p:spPr>
        <p:txBody>
          <a:bodyPr wrap="square">
            <a:spAutoFit/>
          </a:bodyPr>
          <a:lstStyle/>
          <a:p>
            <a:pPr algn="l"/>
            <a:r>
              <a:rPr sz="1200" b="1" i="0">
                <a:solidFill>
                  <a:srgbClr val="2D3748"/>
                </a:solidFill>
                <a:latin typeface="Calibri"/>
              </a:rPr>
              <a:t>MUSCLE5</a:t>
            </a:r>
          </a:p>
        </p:txBody>
      </p:sp>
      <p:sp>
        <p:nvSpPr>
          <p:cNvPr id="70" name="Rectangle 69"/>
          <p:cNvSpPr/>
          <p:nvPr/>
        </p:nvSpPr>
        <p:spPr>
          <a:xfrm>
            <a:off x="9966960" y="2441448"/>
            <a:ext cx="1719071" cy="1170432"/>
          </a:xfrm>
          <a:prstGeom prst="rect">
            <a:avLst/>
          </a:prstGeom>
          <a:solidFill>
            <a:srgbClr val="E8F8FB"/>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966960" y="2441448"/>
            <a:ext cx="1719071" cy="54864"/>
          </a:xfrm>
          <a:prstGeom prst="rect">
            <a:avLst/>
          </a:prstGeom>
          <a:solidFill>
            <a:srgbClr val="007A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076688" y="2532888"/>
            <a:ext cx="1536191" cy="274320"/>
          </a:xfrm>
          <a:prstGeom prst="rect">
            <a:avLst/>
          </a:prstGeom>
          <a:noFill/>
        </p:spPr>
        <p:txBody>
          <a:bodyPr wrap="square">
            <a:spAutoFit/>
          </a:bodyPr>
          <a:lstStyle/>
          <a:p>
            <a:pPr algn="l"/>
            <a:r>
              <a:rPr sz="1000" b="1" i="0">
                <a:solidFill>
                  <a:srgbClr val="007A94"/>
                </a:solidFill>
                <a:latin typeface="Calibri"/>
              </a:rPr>
              <a:t>MIDDLE</a:t>
            </a:r>
          </a:p>
        </p:txBody>
      </p:sp>
      <p:sp>
        <p:nvSpPr>
          <p:cNvPr id="73" name="TextBox 72"/>
          <p:cNvSpPr txBox="1"/>
          <p:nvPr/>
        </p:nvSpPr>
        <p:spPr>
          <a:xfrm>
            <a:off x="10076688" y="2843784"/>
            <a:ext cx="1536191" cy="658368"/>
          </a:xfrm>
          <a:prstGeom prst="rect">
            <a:avLst/>
          </a:prstGeom>
          <a:noFill/>
        </p:spPr>
        <p:txBody>
          <a:bodyPr wrap="square">
            <a:spAutoFit/>
          </a:bodyPr>
          <a:lstStyle/>
          <a:p>
            <a:pPr algn="l"/>
            <a:r>
              <a:rPr sz="1200" b="1" i="0">
                <a:solidFill>
                  <a:srgbClr val="2D3748"/>
                </a:solidFill>
                <a:latin typeface="Calibri"/>
              </a:rPr>
              <a:t>T-Coffee  ·  MAFFT L-INS-i
Clustal Omega  ·  FAMSA</a:t>
            </a:r>
          </a:p>
        </p:txBody>
      </p:sp>
      <p:sp>
        <p:nvSpPr>
          <p:cNvPr id="74" name="Rectangle 73"/>
          <p:cNvSpPr/>
          <p:nvPr/>
        </p:nvSpPr>
        <p:spPr>
          <a:xfrm>
            <a:off x="9966960" y="3739896"/>
            <a:ext cx="1719071" cy="1170432"/>
          </a:xfrm>
          <a:prstGeom prst="rect">
            <a:avLst/>
          </a:prstGeom>
          <a:solidFill>
            <a:srgbClr val="E8F8FB"/>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9966960" y="3739896"/>
            <a:ext cx="1719071" cy="54864"/>
          </a:xfrm>
          <a:prstGeom prst="rect">
            <a:avLst/>
          </a:prstGeom>
          <a:solidFill>
            <a:srgbClr val="718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076688" y="3831335"/>
            <a:ext cx="1536191" cy="274320"/>
          </a:xfrm>
          <a:prstGeom prst="rect">
            <a:avLst/>
          </a:prstGeom>
          <a:noFill/>
        </p:spPr>
        <p:txBody>
          <a:bodyPr wrap="square">
            <a:spAutoFit/>
          </a:bodyPr>
          <a:lstStyle/>
          <a:p>
            <a:pPr algn="l"/>
            <a:r>
              <a:rPr sz="1000" b="1" i="0">
                <a:solidFill>
                  <a:srgbClr val="718096"/>
                </a:solidFill>
                <a:latin typeface="Calibri"/>
              </a:rPr>
              <a:t>BOTTOM</a:t>
            </a:r>
          </a:p>
        </p:txBody>
      </p:sp>
      <p:sp>
        <p:nvSpPr>
          <p:cNvPr id="77" name="TextBox 76"/>
          <p:cNvSpPr txBox="1"/>
          <p:nvPr/>
        </p:nvSpPr>
        <p:spPr>
          <a:xfrm>
            <a:off x="10076688" y="4142232"/>
            <a:ext cx="1536191" cy="658368"/>
          </a:xfrm>
          <a:prstGeom prst="rect">
            <a:avLst/>
          </a:prstGeom>
          <a:noFill/>
        </p:spPr>
        <p:txBody>
          <a:bodyPr wrap="square">
            <a:spAutoFit/>
          </a:bodyPr>
          <a:lstStyle/>
          <a:p>
            <a:pPr algn="l"/>
            <a:r>
              <a:rPr sz="1200" b="1" i="0">
                <a:solidFill>
                  <a:srgbClr val="2D3748"/>
                </a:solidFill>
                <a:latin typeface="Calibri"/>
              </a:rPr>
              <a:t>MAFFT FFT-NS-2  ·  Kalign3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83111" cy="658368"/>
          </a:xfrm>
          <a:prstGeom prst="rect">
            <a:avLst/>
          </a:prstGeom>
          <a:noFill/>
        </p:spPr>
        <p:txBody>
          <a:bodyPr wrap="square">
            <a:spAutoFit/>
          </a:bodyPr>
          <a:lstStyle/>
          <a:p>
            <a:pPr algn="l"/>
            <a:r>
              <a:rPr sz="2400" b="1" i="0">
                <a:solidFill>
                  <a:srgbClr val="2D3748"/>
                </a:solidFill>
                <a:latin typeface="Calibri"/>
              </a:rPr>
              <a:t>The Impact of Sequence Identity</a:t>
            </a:r>
          </a:p>
        </p:txBody>
      </p:sp>
      <p:sp>
        <p:nvSpPr>
          <p:cNvPr id="4" name="TextBox 3"/>
          <p:cNvSpPr txBox="1"/>
          <p:nvPr/>
        </p:nvSpPr>
        <p:spPr>
          <a:xfrm>
            <a:off x="502920" y="749808"/>
            <a:ext cx="10725911" cy="329184"/>
          </a:xfrm>
          <a:prstGeom prst="rect">
            <a:avLst/>
          </a:prstGeom>
          <a:noFill/>
        </p:spPr>
        <p:txBody>
          <a:bodyPr wrap="square">
            <a:spAutoFit/>
          </a:bodyPr>
          <a:lstStyle/>
          <a:p>
            <a:pPr algn="l"/>
            <a:r>
              <a:rPr sz="1200" b="0" i="1">
                <a:solidFill>
                  <a:srgbClr val="00A3C4"/>
                </a:solidFill>
                <a:latin typeface="Calibri"/>
              </a:rPr>
              <a:t>The single most actionable finding of this study</a:t>
            </a:r>
          </a:p>
        </p:txBody>
      </p:sp>
      <p:sp>
        <p:nvSpPr>
          <p:cNvPr id="5" name="Rectangle 4"/>
          <p:cNvSpPr/>
          <p:nvPr/>
        </p:nvSpPr>
        <p:spPr>
          <a:xfrm>
            <a:off x="0" y="6492240"/>
            <a:ext cx="12188952" cy="36576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3"/>
            <a:ext cx="9144000" cy="274320"/>
          </a:xfrm>
          <a:prstGeom prst="rect">
            <a:avLst/>
          </a:prstGeom>
          <a:noFill/>
        </p:spPr>
        <p:txBody>
          <a:bodyPr wrap="square">
            <a:spAutoFit/>
          </a:bodyPr>
          <a:lstStyle/>
          <a:p>
            <a:pPr algn="l"/>
            <a:r>
              <a:rPr sz="900" b="0" i="0">
                <a:solidFill>
                  <a:srgbClr val="718096"/>
                </a:solidFill>
                <a:latin typeface="Calibri"/>
              </a:rPr>
              <a:t>CS 502 — Computational Biology  |  UIC  |  Spring 2026</a:t>
            </a:r>
          </a:p>
        </p:txBody>
      </p:sp>
      <p:sp>
        <p:nvSpPr>
          <p:cNvPr id="8" name="TextBox 7"/>
          <p:cNvSpPr txBox="1"/>
          <p:nvPr/>
        </p:nvSpPr>
        <p:spPr>
          <a:xfrm>
            <a:off x="11045952" y="6547103"/>
            <a:ext cx="640080" cy="274320"/>
          </a:xfrm>
          <a:prstGeom prst="rect">
            <a:avLst/>
          </a:prstGeom>
          <a:noFill/>
        </p:spPr>
        <p:txBody>
          <a:bodyPr wrap="square">
            <a:spAutoFit/>
          </a:bodyPr>
          <a:lstStyle/>
          <a:p>
            <a:pPr algn="r"/>
            <a:r>
              <a:rPr sz="900" b="1" i="0">
                <a:solidFill>
                  <a:srgbClr val="00A3C4"/>
                </a:solidFill>
                <a:latin typeface="Calibri"/>
              </a:rPr>
              <a:t>7 / 10</a:t>
            </a:r>
          </a:p>
        </p:txBody>
      </p:sp>
      <p:sp>
        <p:nvSpPr>
          <p:cNvPr id="9" name="Rectangle 8"/>
          <p:cNvSpPr/>
          <p:nvPr/>
        </p:nvSpPr>
        <p:spPr>
          <a:xfrm>
            <a:off x="502920" y="1143000"/>
            <a:ext cx="5454395" cy="5257800"/>
          </a:xfrm>
          <a:prstGeom prst="rect">
            <a:avLst/>
          </a:prstGeom>
          <a:solidFill>
            <a:srgbClr val="F0FDF4"/>
          </a:solidFill>
          <a:ln w="9525">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143000"/>
            <a:ext cx="5454395"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289304"/>
            <a:ext cx="5180075" cy="384048"/>
          </a:xfrm>
          <a:prstGeom prst="rect">
            <a:avLst/>
          </a:prstGeom>
          <a:noFill/>
        </p:spPr>
        <p:txBody>
          <a:bodyPr wrap="square">
            <a:spAutoFit/>
          </a:bodyPr>
          <a:lstStyle/>
          <a:p>
            <a:pPr algn="l"/>
            <a:r>
              <a:rPr sz="1700" b="1" i="0">
                <a:solidFill>
                  <a:srgbClr val="27AE60"/>
                </a:solidFill>
                <a:latin typeface="Calibri"/>
              </a:rPr>
              <a:t>Above 60% Identity</a:t>
            </a:r>
          </a:p>
        </p:txBody>
      </p:sp>
      <p:sp>
        <p:nvSpPr>
          <p:cNvPr id="12" name="TextBox 11"/>
          <p:cNvSpPr txBox="1"/>
          <p:nvPr/>
        </p:nvSpPr>
        <p:spPr>
          <a:xfrm>
            <a:off x="667512" y="1728216"/>
            <a:ext cx="5180075" cy="384048"/>
          </a:xfrm>
          <a:prstGeom prst="rect">
            <a:avLst/>
          </a:prstGeom>
          <a:noFill/>
        </p:spPr>
        <p:txBody>
          <a:bodyPr wrap="square">
            <a:spAutoFit/>
          </a:bodyPr>
          <a:lstStyle/>
          <a:p>
            <a:pPr algn="l"/>
            <a:r>
              <a:rPr sz="2000" b="1" i="0">
                <a:solidFill>
                  <a:srgbClr val="27AE60"/>
                </a:solidFill>
                <a:latin typeface="Calibri"/>
              </a:rPr>
              <a:t>Tool choice is irrelevant</a:t>
            </a:r>
          </a:p>
        </p:txBody>
      </p:sp>
      <p:sp>
        <p:nvSpPr>
          <p:cNvPr id="13" name="TextBox 12"/>
          <p:cNvSpPr txBox="1"/>
          <p:nvPr/>
        </p:nvSpPr>
        <p:spPr>
          <a:xfrm>
            <a:off x="667512" y="2203704"/>
            <a:ext cx="5180075" cy="777240"/>
          </a:xfrm>
          <a:prstGeom prst="rect">
            <a:avLst/>
          </a:prstGeom>
          <a:noFill/>
        </p:spPr>
        <p:txBody>
          <a:bodyPr wrap="square">
            <a:spAutoFit/>
          </a:bodyPr>
          <a:lstStyle/>
          <a:p>
            <a:pPr algn="l"/>
            <a:r>
              <a:rPr sz="1200" b="0" i="0">
                <a:solidFill>
                  <a:srgbClr val="2D3748"/>
                </a:solidFill>
                <a:latin typeface="Calibri"/>
              </a:rPr>
              <a:t>All seven tools converge to within 0.05 SP units of each other. The sequences are similar enough that even a simple one-pass alignment gets it right.</a:t>
            </a:r>
          </a:p>
        </p:txBody>
      </p:sp>
      <p:sp>
        <p:nvSpPr>
          <p:cNvPr id="14" name="Rectangle 13"/>
          <p:cNvSpPr/>
          <p:nvPr/>
        </p:nvSpPr>
        <p:spPr>
          <a:xfrm>
            <a:off x="502920" y="3081528"/>
            <a:ext cx="11183111" cy="27432"/>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3209544"/>
            <a:ext cx="5180075" cy="310896"/>
          </a:xfrm>
          <a:prstGeom prst="rect">
            <a:avLst/>
          </a:prstGeom>
          <a:noFill/>
        </p:spPr>
        <p:txBody>
          <a:bodyPr wrap="square">
            <a:spAutoFit/>
          </a:bodyPr>
          <a:lstStyle/>
          <a:p>
            <a:pPr algn="l"/>
            <a:r>
              <a:rPr sz="1200" b="1" i="0">
                <a:solidFill>
                  <a:srgbClr val="27AE60"/>
                </a:solidFill>
                <a:latin typeface="Calibri"/>
              </a:rPr>
              <a:t>Advice:</a:t>
            </a:r>
          </a:p>
        </p:txBody>
      </p:sp>
      <p:sp>
        <p:nvSpPr>
          <p:cNvPr id="16" name="TextBox 15"/>
          <p:cNvSpPr txBox="1"/>
          <p:nvPr/>
        </p:nvSpPr>
        <p:spPr>
          <a:xfrm>
            <a:off x="667512" y="3520440"/>
            <a:ext cx="5180075" cy="329184"/>
          </a:xfrm>
          <a:prstGeom prst="rect">
            <a:avLst/>
          </a:prstGeom>
          <a:noFill/>
        </p:spPr>
        <p:txBody>
          <a:bodyPr wrap="square">
            <a:spAutoFit/>
          </a:bodyPr>
          <a:lstStyle/>
          <a:p>
            <a:pPr algn="l"/>
            <a:r>
              <a:rPr sz="1200" b="0" i="0">
                <a:solidFill>
                  <a:srgbClr val="2D3748"/>
                </a:solidFill>
                <a:latin typeface="Calibri"/>
              </a:rPr>
              <a:t>Use FAMSA or Kalign3 and save the compute.</a:t>
            </a:r>
          </a:p>
        </p:txBody>
      </p:sp>
      <p:sp>
        <p:nvSpPr>
          <p:cNvPr id="17" name="TextBox 16"/>
          <p:cNvSpPr txBox="1"/>
          <p:nvPr/>
        </p:nvSpPr>
        <p:spPr>
          <a:xfrm>
            <a:off x="667512" y="3977639"/>
            <a:ext cx="5180075" cy="292608"/>
          </a:xfrm>
          <a:prstGeom prst="rect">
            <a:avLst/>
          </a:prstGeom>
          <a:noFill/>
        </p:spPr>
        <p:txBody>
          <a:bodyPr wrap="square">
            <a:spAutoFit/>
          </a:bodyPr>
          <a:lstStyle/>
          <a:p>
            <a:pPr algn="l"/>
            <a:r>
              <a:rPr sz="1100" b="1" i="0">
                <a:solidFill>
                  <a:srgbClr val="718096"/>
                </a:solidFill>
                <a:latin typeface="Calibri"/>
              </a:rPr>
              <a:t>Example use cases:</a:t>
            </a:r>
          </a:p>
        </p:txBody>
      </p:sp>
      <p:sp>
        <p:nvSpPr>
          <p:cNvPr id="18" name="TextBox 17"/>
          <p:cNvSpPr txBox="1"/>
          <p:nvPr/>
        </p:nvSpPr>
        <p:spPr>
          <a:xfrm>
            <a:off x="667512" y="4288536"/>
            <a:ext cx="5180075" cy="640080"/>
          </a:xfrm>
          <a:prstGeom prst="rect">
            <a:avLst/>
          </a:prstGeom>
          <a:noFill/>
        </p:spPr>
        <p:txBody>
          <a:bodyPr wrap="square">
            <a:spAutoFit/>
          </a:bodyPr>
          <a:lstStyle/>
          <a:p>
            <a:pPr algn="l"/>
            <a:r>
              <a:rPr sz="1100" b="0" i="0">
                <a:solidFill>
                  <a:srgbClr val="718096"/>
                </a:solidFill>
                <a:latin typeface="Calibri"/>
              </a:rPr>
              <a:t>Closely-related bacterial orthologues
Paralogues within a single species</a:t>
            </a:r>
          </a:p>
        </p:txBody>
      </p:sp>
      <p:sp>
        <p:nvSpPr>
          <p:cNvPr id="19" name="Rectangle 18"/>
          <p:cNvSpPr/>
          <p:nvPr/>
        </p:nvSpPr>
        <p:spPr>
          <a:xfrm>
            <a:off x="6231635" y="1143000"/>
            <a:ext cx="5454395" cy="5257800"/>
          </a:xfrm>
          <a:prstGeom prst="rect">
            <a:avLst/>
          </a:prstGeom>
          <a:solidFill>
            <a:srgbClr val="E8F8FB"/>
          </a:solidFill>
          <a:ln w="9525">
            <a:solidFill>
              <a:srgbClr val="00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5" y="1143000"/>
            <a:ext cx="5454395" cy="54864"/>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6227" y="1289304"/>
            <a:ext cx="5180075" cy="384048"/>
          </a:xfrm>
          <a:prstGeom prst="rect">
            <a:avLst/>
          </a:prstGeom>
          <a:noFill/>
        </p:spPr>
        <p:txBody>
          <a:bodyPr wrap="square">
            <a:spAutoFit/>
          </a:bodyPr>
          <a:lstStyle/>
          <a:p>
            <a:pPr algn="l"/>
            <a:r>
              <a:rPr sz="1700" b="1" i="0">
                <a:solidFill>
                  <a:srgbClr val="00A3C4"/>
                </a:solidFill>
                <a:latin typeface="Calibri"/>
              </a:rPr>
              <a:t>Below 20% Identity</a:t>
            </a:r>
          </a:p>
        </p:txBody>
      </p:sp>
      <p:sp>
        <p:nvSpPr>
          <p:cNvPr id="22" name="TextBox 21"/>
          <p:cNvSpPr txBox="1"/>
          <p:nvPr/>
        </p:nvSpPr>
        <p:spPr>
          <a:xfrm>
            <a:off x="6396227" y="1728216"/>
            <a:ext cx="5180075" cy="384048"/>
          </a:xfrm>
          <a:prstGeom prst="rect">
            <a:avLst/>
          </a:prstGeom>
          <a:noFill/>
        </p:spPr>
        <p:txBody>
          <a:bodyPr wrap="square">
            <a:spAutoFit/>
          </a:bodyPr>
          <a:lstStyle/>
          <a:p>
            <a:pPr algn="l"/>
            <a:r>
              <a:rPr sz="2000" b="1" i="0">
                <a:solidFill>
                  <a:srgbClr val="00A3C4"/>
                </a:solidFill>
                <a:latin typeface="Calibri"/>
              </a:rPr>
              <a:t>Tool choice is critical</a:t>
            </a:r>
          </a:p>
        </p:txBody>
      </p:sp>
      <p:sp>
        <p:nvSpPr>
          <p:cNvPr id="23" name="TextBox 22"/>
          <p:cNvSpPr txBox="1"/>
          <p:nvPr/>
        </p:nvSpPr>
        <p:spPr>
          <a:xfrm>
            <a:off x="6396227" y="2203704"/>
            <a:ext cx="5180075" cy="777240"/>
          </a:xfrm>
          <a:prstGeom prst="rect">
            <a:avLst/>
          </a:prstGeom>
          <a:noFill/>
        </p:spPr>
        <p:txBody>
          <a:bodyPr wrap="square">
            <a:spAutoFit/>
          </a:bodyPr>
          <a:lstStyle/>
          <a:p>
            <a:pPr algn="l"/>
            <a:r>
              <a:rPr sz="1200" b="0" i="0">
                <a:solidFill>
                  <a:srgbClr val="2D3748"/>
                </a:solidFill>
                <a:latin typeface="Calibri"/>
              </a:rPr>
              <a:t>Top-tier tools outperform the bottom tier by ~0.15 SP units — roughly 15 additional correctly aligned residue pairs per 100 evaluated.</a:t>
            </a:r>
          </a:p>
        </p:txBody>
      </p:sp>
      <p:sp>
        <p:nvSpPr>
          <p:cNvPr id="24" name="Rectangle 23"/>
          <p:cNvSpPr/>
          <p:nvPr/>
        </p:nvSpPr>
        <p:spPr>
          <a:xfrm>
            <a:off x="502920" y="3081528"/>
            <a:ext cx="11183111" cy="27432"/>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6227" y="3209544"/>
            <a:ext cx="5180075" cy="310896"/>
          </a:xfrm>
          <a:prstGeom prst="rect">
            <a:avLst/>
          </a:prstGeom>
          <a:noFill/>
        </p:spPr>
        <p:txBody>
          <a:bodyPr wrap="square">
            <a:spAutoFit/>
          </a:bodyPr>
          <a:lstStyle/>
          <a:p>
            <a:pPr algn="l"/>
            <a:r>
              <a:rPr sz="1200" b="1" i="0">
                <a:solidFill>
                  <a:srgbClr val="00A3C4"/>
                </a:solidFill>
                <a:latin typeface="Calibri"/>
              </a:rPr>
              <a:t>Biological consequences:</a:t>
            </a:r>
          </a:p>
        </p:txBody>
      </p:sp>
      <p:sp>
        <p:nvSpPr>
          <p:cNvPr id="26" name="TextBox 25"/>
          <p:cNvSpPr txBox="1"/>
          <p:nvPr/>
        </p:nvSpPr>
        <p:spPr>
          <a:xfrm>
            <a:off x="6396227" y="3538728"/>
            <a:ext cx="5180075" cy="658368"/>
          </a:xfrm>
          <a:prstGeom prst="rect">
            <a:avLst/>
          </a:prstGeom>
          <a:noFill/>
        </p:spPr>
        <p:txBody>
          <a:bodyPr wrap="square">
            <a:spAutoFit/>
          </a:bodyPr>
          <a:lstStyle/>
          <a:p>
            <a:pPr algn="l"/>
            <a:r>
              <a:rPr sz="1200" b="0" i="0">
                <a:solidFill>
                  <a:srgbClr val="2D3748"/>
                </a:solidFill>
                <a:latin typeface="Calibri"/>
              </a:rPr>
              <a:t>A misaligned column can shift a phylogenetic branch topology
A wrongly placed residue corrupts a homology model active site</a:t>
            </a:r>
          </a:p>
        </p:txBody>
      </p:sp>
      <p:sp>
        <p:nvSpPr>
          <p:cNvPr id="27" name="TextBox 26"/>
          <p:cNvSpPr txBox="1"/>
          <p:nvPr/>
        </p:nvSpPr>
        <p:spPr>
          <a:xfrm>
            <a:off x="6396227" y="4306824"/>
            <a:ext cx="5180075" cy="310896"/>
          </a:xfrm>
          <a:prstGeom prst="rect">
            <a:avLst/>
          </a:prstGeom>
          <a:noFill/>
        </p:spPr>
        <p:txBody>
          <a:bodyPr wrap="square">
            <a:spAutoFit/>
          </a:bodyPr>
          <a:lstStyle/>
          <a:p>
            <a:pPr algn="l"/>
            <a:r>
              <a:rPr sz="1200" b="1" i="0">
                <a:solidFill>
                  <a:srgbClr val="00A3C4"/>
                </a:solidFill>
                <a:latin typeface="Calibri"/>
              </a:rPr>
              <a:t>Use MUSCLE5 or MAFFT L-INS-i.</a:t>
            </a:r>
          </a:p>
        </p:txBody>
      </p:sp>
      <p:sp>
        <p:nvSpPr>
          <p:cNvPr id="28" name="TextBox 27"/>
          <p:cNvSpPr txBox="1"/>
          <p:nvPr/>
        </p:nvSpPr>
        <p:spPr>
          <a:xfrm>
            <a:off x="6396227" y="4636008"/>
            <a:ext cx="5180075" cy="493776"/>
          </a:xfrm>
          <a:prstGeom prst="rect">
            <a:avLst/>
          </a:prstGeom>
          <a:noFill/>
        </p:spPr>
        <p:txBody>
          <a:bodyPr wrap="square">
            <a:spAutoFit/>
          </a:bodyPr>
          <a:lstStyle/>
          <a:p>
            <a:pPr algn="l"/>
            <a:r>
              <a:rPr sz="1100" b="0" i="0">
                <a:solidFill>
                  <a:srgbClr val="718096"/>
                </a:solidFill>
                <a:latin typeface="Calibri"/>
              </a:rPr>
              <a:t>Ancient superfamilies, cross-kingdom comparisons,
remote homolog detection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83111" cy="658368"/>
          </a:xfrm>
          <a:prstGeom prst="rect">
            <a:avLst/>
          </a:prstGeom>
          <a:noFill/>
        </p:spPr>
        <p:txBody>
          <a:bodyPr wrap="square">
            <a:spAutoFit/>
          </a:bodyPr>
          <a:lstStyle/>
          <a:p>
            <a:pPr algn="l"/>
            <a:r>
              <a:rPr sz="2400" b="1" i="0">
                <a:solidFill>
                  <a:srgbClr val="2D3748"/>
                </a:solidFill>
                <a:latin typeface="Calibri"/>
              </a:rPr>
              <a:t>Speed vs. Accuracy Trade-offs</a:t>
            </a:r>
          </a:p>
        </p:txBody>
      </p:sp>
      <p:sp>
        <p:nvSpPr>
          <p:cNvPr id="4" name="TextBox 3"/>
          <p:cNvSpPr txBox="1"/>
          <p:nvPr/>
        </p:nvSpPr>
        <p:spPr>
          <a:xfrm>
            <a:off x="502920" y="749808"/>
            <a:ext cx="10725911" cy="329184"/>
          </a:xfrm>
          <a:prstGeom prst="rect">
            <a:avLst/>
          </a:prstGeom>
          <a:noFill/>
        </p:spPr>
        <p:txBody>
          <a:bodyPr wrap="square">
            <a:spAutoFit/>
          </a:bodyPr>
          <a:lstStyle/>
          <a:p>
            <a:pPr algn="l"/>
            <a:r>
              <a:rPr sz="1200" b="0" i="1">
                <a:solidFill>
                  <a:srgbClr val="00A3C4"/>
                </a:solidFill>
                <a:latin typeface="Calibri"/>
              </a:rPr>
              <a:t>Pareto-optimal tools and critical scalability failures</a:t>
            </a:r>
          </a:p>
        </p:txBody>
      </p:sp>
      <p:sp>
        <p:nvSpPr>
          <p:cNvPr id="5" name="Rectangle 4"/>
          <p:cNvSpPr/>
          <p:nvPr/>
        </p:nvSpPr>
        <p:spPr>
          <a:xfrm>
            <a:off x="0" y="6492240"/>
            <a:ext cx="12188952" cy="36576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3"/>
            <a:ext cx="9144000" cy="274320"/>
          </a:xfrm>
          <a:prstGeom prst="rect">
            <a:avLst/>
          </a:prstGeom>
          <a:noFill/>
        </p:spPr>
        <p:txBody>
          <a:bodyPr wrap="square">
            <a:spAutoFit/>
          </a:bodyPr>
          <a:lstStyle/>
          <a:p>
            <a:pPr algn="l"/>
            <a:r>
              <a:rPr sz="900" b="0" i="0">
                <a:solidFill>
                  <a:srgbClr val="718096"/>
                </a:solidFill>
                <a:latin typeface="Calibri"/>
              </a:rPr>
              <a:t>CS 502 — Computational Biology  |  UIC  |  Spring 2026</a:t>
            </a:r>
          </a:p>
        </p:txBody>
      </p:sp>
      <p:sp>
        <p:nvSpPr>
          <p:cNvPr id="8" name="TextBox 7"/>
          <p:cNvSpPr txBox="1"/>
          <p:nvPr/>
        </p:nvSpPr>
        <p:spPr>
          <a:xfrm>
            <a:off x="11045952" y="6547103"/>
            <a:ext cx="640080" cy="274320"/>
          </a:xfrm>
          <a:prstGeom prst="rect">
            <a:avLst/>
          </a:prstGeom>
          <a:noFill/>
        </p:spPr>
        <p:txBody>
          <a:bodyPr wrap="square">
            <a:spAutoFit/>
          </a:bodyPr>
          <a:lstStyle/>
          <a:p>
            <a:pPr algn="r"/>
            <a:r>
              <a:rPr sz="900" b="1" i="0">
                <a:solidFill>
                  <a:srgbClr val="00A3C4"/>
                </a:solidFill>
                <a:latin typeface="Calibri"/>
              </a:rPr>
              <a:t>8 / 10</a:t>
            </a:r>
          </a:p>
        </p:txBody>
      </p:sp>
      <p:sp>
        <p:nvSpPr>
          <p:cNvPr id="9" name="Rectangle 8"/>
          <p:cNvSpPr/>
          <p:nvPr/>
        </p:nvSpPr>
        <p:spPr>
          <a:xfrm>
            <a:off x="502920" y="1143000"/>
            <a:ext cx="5029200" cy="457200"/>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1216152"/>
            <a:ext cx="1901952" cy="347472"/>
          </a:xfrm>
          <a:prstGeom prst="rect">
            <a:avLst/>
          </a:prstGeom>
          <a:noFill/>
        </p:spPr>
        <p:txBody>
          <a:bodyPr wrap="square">
            <a:spAutoFit/>
          </a:bodyPr>
          <a:lstStyle/>
          <a:p>
            <a:pPr algn="ctr"/>
            <a:r>
              <a:rPr sz="1100" b="1" i="0">
                <a:solidFill>
                  <a:srgbClr val="FFFFFF"/>
                </a:solidFill>
                <a:latin typeface="Calibri"/>
              </a:rPr>
              <a:t>Tool</a:t>
            </a:r>
          </a:p>
        </p:txBody>
      </p:sp>
      <p:sp>
        <p:nvSpPr>
          <p:cNvPr id="11" name="TextBox 10"/>
          <p:cNvSpPr txBox="1"/>
          <p:nvPr/>
        </p:nvSpPr>
        <p:spPr>
          <a:xfrm>
            <a:off x="2587752" y="1216152"/>
            <a:ext cx="1399031" cy="347472"/>
          </a:xfrm>
          <a:prstGeom prst="rect">
            <a:avLst/>
          </a:prstGeom>
          <a:noFill/>
        </p:spPr>
        <p:txBody>
          <a:bodyPr wrap="square">
            <a:spAutoFit/>
          </a:bodyPr>
          <a:lstStyle/>
          <a:p>
            <a:pPr algn="ctr"/>
            <a:r>
              <a:rPr sz="1100" b="1" i="0">
                <a:solidFill>
                  <a:srgbClr val="FFFFFF"/>
                </a:solidFill>
                <a:latin typeface="Calibri"/>
              </a:rPr>
              <a:t>Runtime</a:t>
            </a:r>
          </a:p>
        </p:txBody>
      </p:sp>
      <p:sp>
        <p:nvSpPr>
          <p:cNvPr id="12" name="TextBox 11"/>
          <p:cNvSpPr txBox="1"/>
          <p:nvPr/>
        </p:nvSpPr>
        <p:spPr>
          <a:xfrm>
            <a:off x="4096512" y="1216152"/>
            <a:ext cx="1399031" cy="347472"/>
          </a:xfrm>
          <a:prstGeom prst="rect">
            <a:avLst/>
          </a:prstGeom>
          <a:noFill/>
        </p:spPr>
        <p:txBody>
          <a:bodyPr wrap="square">
            <a:spAutoFit/>
          </a:bodyPr>
          <a:lstStyle/>
          <a:p>
            <a:pPr algn="ctr"/>
            <a:r>
              <a:rPr sz="1100" b="1" i="0">
                <a:solidFill>
                  <a:srgbClr val="FFFFFF"/>
                </a:solidFill>
                <a:latin typeface="Calibri"/>
              </a:rPr>
              <a:t>Memory</a:t>
            </a:r>
          </a:p>
        </p:txBody>
      </p:sp>
      <p:sp>
        <p:nvSpPr>
          <p:cNvPr id="13" name="Rectangle 12"/>
          <p:cNvSpPr/>
          <p:nvPr/>
        </p:nvSpPr>
        <p:spPr>
          <a:xfrm>
            <a:off x="502920" y="1600200"/>
            <a:ext cx="5029200" cy="457200"/>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 y="1682496"/>
            <a:ext cx="1901952" cy="329184"/>
          </a:xfrm>
          <a:prstGeom prst="rect">
            <a:avLst/>
          </a:prstGeom>
          <a:noFill/>
        </p:spPr>
        <p:txBody>
          <a:bodyPr wrap="square">
            <a:spAutoFit/>
          </a:bodyPr>
          <a:lstStyle/>
          <a:p>
            <a:pPr algn="l"/>
            <a:r>
              <a:rPr sz="1100" b="1" i="0">
                <a:solidFill>
                  <a:srgbClr val="007A94"/>
                </a:solidFill>
                <a:latin typeface="Calibri"/>
              </a:rPr>
              <a:t>Kalign3</a:t>
            </a:r>
          </a:p>
        </p:txBody>
      </p:sp>
      <p:sp>
        <p:nvSpPr>
          <p:cNvPr id="15" name="TextBox 14"/>
          <p:cNvSpPr txBox="1"/>
          <p:nvPr/>
        </p:nvSpPr>
        <p:spPr>
          <a:xfrm>
            <a:off x="2587752" y="1682496"/>
            <a:ext cx="1399031" cy="329184"/>
          </a:xfrm>
          <a:prstGeom prst="rect">
            <a:avLst/>
          </a:prstGeom>
          <a:noFill/>
        </p:spPr>
        <p:txBody>
          <a:bodyPr wrap="square">
            <a:spAutoFit/>
          </a:bodyPr>
          <a:lstStyle/>
          <a:p>
            <a:pPr algn="ctr"/>
            <a:r>
              <a:rPr sz="1100" b="0" i="0">
                <a:solidFill>
                  <a:srgbClr val="2D3748"/>
                </a:solidFill>
                <a:latin typeface="Calibri"/>
              </a:rPr>
              <a:t>0.06 s</a:t>
            </a:r>
          </a:p>
        </p:txBody>
      </p:sp>
      <p:sp>
        <p:nvSpPr>
          <p:cNvPr id="16" name="TextBox 15"/>
          <p:cNvSpPr txBox="1"/>
          <p:nvPr/>
        </p:nvSpPr>
        <p:spPr>
          <a:xfrm>
            <a:off x="4096512" y="1682496"/>
            <a:ext cx="1399031" cy="329184"/>
          </a:xfrm>
          <a:prstGeom prst="rect">
            <a:avLst/>
          </a:prstGeom>
          <a:noFill/>
        </p:spPr>
        <p:txBody>
          <a:bodyPr wrap="square">
            <a:spAutoFit/>
          </a:bodyPr>
          <a:lstStyle/>
          <a:p>
            <a:pPr algn="ctr"/>
            <a:r>
              <a:rPr sz="1100" b="0" i="0">
                <a:solidFill>
                  <a:srgbClr val="2D3748"/>
                </a:solidFill>
                <a:latin typeface="Calibri"/>
              </a:rPr>
              <a:t>  5 MB</a:t>
            </a:r>
          </a:p>
        </p:txBody>
      </p:sp>
      <p:sp>
        <p:nvSpPr>
          <p:cNvPr id="17" name="Rectangle 16"/>
          <p:cNvSpPr/>
          <p:nvPr/>
        </p:nvSpPr>
        <p:spPr>
          <a:xfrm>
            <a:off x="502920" y="2057400"/>
            <a:ext cx="5029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072" y="2139696"/>
            <a:ext cx="1901952" cy="329184"/>
          </a:xfrm>
          <a:prstGeom prst="rect">
            <a:avLst/>
          </a:prstGeom>
          <a:noFill/>
        </p:spPr>
        <p:txBody>
          <a:bodyPr wrap="square">
            <a:spAutoFit/>
          </a:bodyPr>
          <a:lstStyle/>
          <a:p>
            <a:pPr algn="l"/>
            <a:r>
              <a:rPr sz="1100" b="1" i="0">
                <a:solidFill>
                  <a:srgbClr val="007A94"/>
                </a:solidFill>
                <a:latin typeface="Calibri"/>
              </a:rPr>
              <a:t>FAMSA</a:t>
            </a:r>
          </a:p>
        </p:txBody>
      </p:sp>
      <p:sp>
        <p:nvSpPr>
          <p:cNvPr id="19" name="TextBox 18"/>
          <p:cNvSpPr txBox="1"/>
          <p:nvPr/>
        </p:nvSpPr>
        <p:spPr>
          <a:xfrm>
            <a:off x="2587752" y="2139696"/>
            <a:ext cx="1399031" cy="329184"/>
          </a:xfrm>
          <a:prstGeom prst="rect">
            <a:avLst/>
          </a:prstGeom>
          <a:noFill/>
        </p:spPr>
        <p:txBody>
          <a:bodyPr wrap="square">
            <a:spAutoFit/>
          </a:bodyPr>
          <a:lstStyle/>
          <a:p>
            <a:pPr algn="ctr"/>
            <a:r>
              <a:rPr sz="1100" b="0" i="0">
                <a:solidFill>
                  <a:srgbClr val="2D3748"/>
                </a:solidFill>
                <a:latin typeface="Calibri"/>
              </a:rPr>
              <a:t>0.19 s</a:t>
            </a:r>
          </a:p>
        </p:txBody>
      </p:sp>
      <p:sp>
        <p:nvSpPr>
          <p:cNvPr id="20" name="TextBox 19"/>
          <p:cNvSpPr txBox="1"/>
          <p:nvPr/>
        </p:nvSpPr>
        <p:spPr>
          <a:xfrm>
            <a:off x="4096512" y="2139696"/>
            <a:ext cx="1399031" cy="329184"/>
          </a:xfrm>
          <a:prstGeom prst="rect">
            <a:avLst/>
          </a:prstGeom>
          <a:noFill/>
        </p:spPr>
        <p:txBody>
          <a:bodyPr wrap="square">
            <a:spAutoFit/>
          </a:bodyPr>
          <a:lstStyle/>
          <a:p>
            <a:pPr algn="ctr"/>
            <a:r>
              <a:rPr sz="1100" b="0" i="0">
                <a:solidFill>
                  <a:srgbClr val="2D3748"/>
                </a:solidFill>
                <a:latin typeface="Calibri"/>
              </a:rPr>
              <a:t> 17 MB</a:t>
            </a:r>
          </a:p>
        </p:txBody>
      </p:sp>
      <p:sp>
        <p:nvSpPr>
          <p:cNvPr id="21" name="Rectangle 20"/>
          <p:cNvSpPr/>
          <p:nvPr/>
        </p:nvSpPr>
        <p:spPr>
          <a:xfrm>
            <a:off x="502920" y="2514600"/>
            <a:ext cx="5029200" cy="457200"/>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 y="2596896"/>
            <a:ext cx="1901952" cy="329184"/>
          </a:xfrm>
          <a:prstGeom prst="rect">
            <a:avLst/>
          </a:prstGeom>
          <a:noFill/>
        </p:spPr>
        <p:txBody>
          <a:bodyPr wrap="square">
            <a:spAutoFit/>
          </a:bodyPr>
          <a:lstStyle/>
          <a:p>
            <a:pPr algn="l"/>
            <a:r>
              <a:rPr sz="1100" b="1" i="0">
                <a:solidFill>
                  <a:srgbClr val="007A94"/>
                </a:solidFill>
                <a:latin typeface="Calibri"/>
              </a:rPr>
              <a:t>MUSCLE5</a:t>
            </a:r>
          </a:p>
        </p:txBody>
      </p:sp>
      <p:sp>
        <p:nvSpPr>
          <p:cNvPr id="23" name="TextBox 22"/>
          <p:cNvSpPr txBox="1"/>
          <p:nvPr/>
        </p:nvSpPr>
        <p:spPr>
          <a:xfrm>
            <a:off x="2587752" y="2596896"/>
            <a:ext cx="1399031" cy="329184"/>
          </a:xfrm>
          <a:prstGeom prst="rect">
            <a:avLst/>
          </a:prstGeom>
          <a:noFill/>
        </p:spPr>
        <p:txBody>
          <a:bodyPr wrap="square">
            <a:spAutoFit/>
          </a:bodyPr>
          <a:lstStyle/>
          <a:p>
            <a:pPr algn="ctr"/>
            <a:r>
              <a:rPr sz="1100" b="0" i="0">
                <a:solidFill>
                  <a:srgbClr val="2D3748"/>
                </a:solidFill>
                <a:latin typeface="Calibri"/>
              </a:rPr>
              <a:t>0.52 s</a:t>
            </a:r>
          </a:p>
        </p:txBody>
      </p:sp>
      <p:sp>
        <p:nvSpPr>
          <p:cNvPr id="24" name="TextBox 23"/>
          <p:cNvSpPr txBox="1"/>
          <p:nvPr/>
        </p:nvSpPr>
        <p:spPr>
          <a:xfrm>
            <a:off x="4096512" y="2596896"/>
            <a:ext cx="1399031" cy="329184"/>
          </a:xfrm>
          <a:prstGeom prst="rect">
            <a:avLst/>
          </a:prstGeom>
          <a:noFill/>
        </p:spPr>
        <p:txBody>
          <a:bodyPr wrap="square">
            <a:spAutoFit/>
          </a:bodyPr>
          <a:lstStyle/>
          <a:p>
            <a:pPr algn="ctr"/>
            <a:r>
              <a:rPr sz="1100" b="0" i="0">
                <a:solidFill>
                  <a:srgbClr val="2D3748"/>
                </a:solidFill>
                <a:latin typeface="Calibri"/>
              </a:rPr>
              <a:t>113 MB</a:t>
            </a:r>
          </a:p>
        </p:txBody>
      </p:sp>
      <p:sp>
        <p:nvSpPr>
          <p:cNvPr id="25" name="Rectangle 24"/>
          <p:cNvSpPr/>
          <p:nvPr/>
        </p:nvSpPr>
        <p:spPr>
          <a:xfrm>
            <a:off x="502920" y="2971800"/>
            <a:ext cx="5029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6072" y="3054096"/>
            <a:ext cx="1901952" cy="329184"/>
          </a:xfrm>
          <a:prstGeom prst="rect">
            <a:avLst/>
          </a:prstGeom>
          <a:noFill/>
        </p:spPr>
        <p:txBody>
          <a:bodyPr wrap="square">
            <a:spAutoFit/>
          </a:bodyPr>
          <a:lstStyle/>
          <a:p>
            <a:pPr algn="l"/>
            <a:r>
              <a:rPr sz="1100" b="1" i="0">
                <a:solidFill>
                  <a:srgbClr val="007A94"/>
                </a:solidFill>
                <a:latin typeface="Calibri"/>
              </a:rPr>
              <a:t>MAFFT FFT-NS-2</a:t>
            </a:r>
          </a:p>
        </p:txBody>
      </p:sp>
      <p:sp>
        <p:nvSpPr>
          <p:cNvPr id="27" name="TextBox 26"/>
          <p:cNvSpPr txBox="1"/>
          <p:nvPr/>
        </p:nvSpPr>
        <p:spPr>
          <a:xfrm>
            <a:off x="2587752" y="3054096"/>
            <a:ext cx="1399031" cy="329184"/>
          </a:xfrm>
          <a:prstGeom prst="rect">
            <a:avLst/>
          </a:prstGeom>
          <a:noFill/>
        </p:spPr>
        <p:txBody>
          <a:bodyPr wrap="square">
            <a:spAutoFit/>
          </a:bodyPr>
          <a:lstStyle/>
          <a:p>
            <a:pPr algn="ctr"/>
            <a:r>
              <a:rPr sz="1100" b="0" i="0">
                <a:solidFill>
                  <a:srgbClr val="2D3748"/>
                </a:solidFill>
                <a:latin typeface="Calibri"/>
              </a:rPr>
              <a:t>0.55 s</a:t>
            </a:r>
          </a:p>
        </p:txBody>
      </p:sp>
      <p:sp>
        <p:nvSpPr>
          <p:cNvPr id="28" name="TextBox 27"/>
          <p:cNvSpPr txBox="1"/>
          <p:nvPr/>
        </p:nvSpPr>
        <p:spPr>
          <a:xfrm>
            <a:off x="4096512" y="3054096"/>
            <a:ext cx="1399031" cy="329184"/>
          </a:xfrm>
          <a:prstGeom prst="rect">
            <a:avLst/>
          </a:prstGeom>
          <a:noFill/>
        </p:spPr>
        <p:txBody>
          <a:bodyPr wrap="square">
            <a:spAutoFit/>
          </a:bodyPr>
          <a:lstStyle/>
          <a:p>
            <a:pPr algn="ctr"/>
            <a:r>
              <a:rPr sz="1100" b="0" i="0">
                <a:solidFill>
                  <a:srgbClr val="2D3748"/>
                </a:solidFill>
                <a:latin typeface="Calibri"/>
              </a:rPr>
              <a:t> 23 MB</a:t>
            </a:r>
          </a:p>
        </p:txBody>
      </p:sp>
      <p:sp>
        <p:nvSpPr>
          <p:cNvPr id="29" name="Rectangle 28"/>
          <p:cNvSpPr/>
          <p:nvPr/>
        </p:nvSpPr>
        <p:spPr>
          <a:xfrm>
            <a:off x="502920" y="3429000"/>
            <a:ext cx="5029200" cy="457200"/>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6072" y="3511296"/>
            <a:ext cx="1901952" cy="329184"/>
          </a:xfrm>
          <a:prstGeom prst="rect">
            <a:avLst/>
          </a:prstGeom>
          <a:noFill/>
        </p:spPr>
        <p:txBody>
          <a:bodyPr wrap="square">
            <a:spAutoFit/>
          </a:bodyPr>
          <a:lstStyle/>
          <a:p>
            <a:pPr algn="l"/>
            <a:r>
              <a:rPr sz="1100" b="1" i="0">
                <a:solidFill>
                  <a:srgbClr val="007A94"/>
                </a:solidFill>
                <a:latin typeface="Calibri"/>
              </a:rPr>
              <a:t>Clustal Omega</a:t>
            </a:r>
          </a:p>
        </p:txBody>
      </p:sp>
      <p:sp>
        <p:nvSpPr>
          <p:cNvPr id="31" name="TextBox 30"/>
          <p:cNvSpPr txBox="1"/>
          <p:nvPr/>
        </p:nvSpPr>
        <p:spPr>
          <a:xfrm>
            <a:off x="2587752" y="3511296"/>
            <a:ext cx="1399031" cy="329184"/>
          </a:xfrm>
          <a:prstGeom prst="rect">
            <a:avLst/>
          </a:prstGeom>
          <a:noFill/>
        </p:spPr>
        <p:txBody>
          <a:bodyPr wrap="square">
            <a:spAutoFit/>
          </a:bodyPr>
          <a:lstStyle/>
          <a:p>
            <a:pPr algn="ctr"/>
            <a:r>
              <a:rPr sz="1100" b="0" i="0">
                <a:solidFill>
                  <a:srgbClr val="2D3748"/>
                </a:solidFill>
                <a:latin typeface="Calibri"/>
              </a:rPr>
              <a:t>0.64 s</a:t>
            </a:r>
          </a:p>
        </p:txBody>
      </p:sp>
      <p:sp>
        <p:nvSpPr>
          <p:cNvPr id="32" name="TextBox 31"/>
          <p:cNvSpPr txBox="1"/>
          <p:nvPr/>
        </p:nvSpPr>
        <p:spPr>
          <a:xfrm>
            <a:off x="4096512" y="3511296"/>
            <a:ext cx="1399031" cy="329184"/>
          </a:xfrm>
          <a:prstGeom prst="rect">
            <a:avLst/>
          </a:prstGeom>
          <a:noFill/>
        </p:spPr>
        <p:txBody>
          <a:bodyPr wrap="square">
            <a:spAutoFit/>
          </a:bodyPr>
          <a:lstStyle/>
          <a:p>
            <a:pPr algn="ctr"/>
            <a:r>
              <a:rPr sz="1100" b="0" i="0">
                <a:solidFill>
                  <a:srgbClr val="2D3748"/>
                </a:solidFill>
                <a:latin typeface="Calibri"/>
              </a:rPr>
              <a:t> 16 MB</a:t>
            </a:r>
          </a:p>
        </p:txBody>
      </p:sp>
      <p:sp>
        <p:nvSpPr>
          <p:cNvPr id="33" name="Rectangle 32"/>
          <p:cNvSpPr/>
          <p:nvPr/>
        </p:nvSpPr>
        <p:spPr>
          <a:xfrm>
            <a:off x="502920" y="3886200"/>
            <a:ext cx="5029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6072" y="3968496"/>
            <a:ext cx="1901952" cy="329184"/>
          </a:xfrm>
          <a:prstGeom prst="rect">
            <a:avLst/>
          </a:prstGeom>
          <a:noFill/>
        </p:spPr>
        <p:txBody>
          <a:bodyPr wrap="square">
            <a:spAutoFit/>
          </a:bodyPr>
          <a:lstStyle/>
          <a:p>
            <a:pPr algn="l"/>
            <a:r>
              <a:rPr sz="1100" b="1" i="0">
                <a:solidFill>
                  <a:srgbClr val="007A94"/>
                </a:solidFill>
                <a:latin typeface="Calibri"/>
              </a:rPr>
              <a:t>MAFFT L-INS-i</a:t>
            </a:r>
          </a:p>
        </p:txBody>
      </p:sp>
      <p:sp>
        <p:nvSpPr>
          <p:cNvPr id="35" name="TextBox 34"/>
          <p:cNvSpPr txBox="1"/>
          <p:nvPr/>
        </p:nvSpPr>
        <p:spPr>
          <a:xfrm>
            <a:off x="2587752" y="3968496"/>
            <a:ext cx="1399031" cy="329184"/>
          </a:xfrm>
          <a:prstGeom prst="rect">
            <a:avLst/>
          </a:prstGeom>
          <a:noFill/>
        </p:spPr>
        <p:txBody>
          <a:bodyPr wrap="square">
            <a:spAutoFit/>
          </a:bodyPr>
          <a:lstStyle/>
          <a:p>
            <a:pPr algn="ctr"/>
            <a:r>
              <a:rPr sz="1100" b="0" i="0">
                <a:solidFill>
                  <a:srgbClr val="2D3748"/>
                </a:solidFill>
                <a:latin typeface="Calibri"/>
              </a:rPr>
              <a:t>0.88 s</a:t>
            </a:r>
          </a:p>
        </p:txBody>
      </p:sp>
      <p:sp>
        <p:nvSpPr>
          <p:cNvPr id="36" name="TextBox 35"/>
          <p:cNvSpPr txBox="1"/>
          <p:nvPr/>
        </p:nvSpPr>
        <p:spPr>
          <a:xfrm>
            <a:off x="4096512" y="3968496"/>
            <a:ext cx="1399031" cy="329184"/>
          </a:xfrm>
          <a:prstGeom prst="rect">
            <a:avLst/>
          </a:prstGeom>
          <a:noFill/>
        </p:spPr>
        <p:txBody>
          <a:bodyPr wrap="square">
            <a:spAutoFit/>
          </a:bodyPr>
          <a:lstStyle/>
          <a:p>
            <a:pPr algn="ctr"/>
            <a:r>
              <a:rPr sz="1100" b="0" i="0">
                <a:solidFill>
                  <a:srgbClr val="2D3748"/>
                </a:solidFill>
                <a:latin typeface="Calibri"/>
              </a:rPr>
              <a:t> 13 MB</a:t>
            </a:r>
          </a:p>
        </p:txBody>
      </p:sp>
      <p:sp>
        <p:nvSpPr>
          <p:cNvPr id="37" name="Rectangle 36"/>
          <p:cNvSpPr/>
          <p:nvPr/>
        </p:nvSpPr>
        <p:spPr>
          <a:xfrm>
            <a:off x="502920" y="4343400"/>
            <a:ext cx="5029200" cy="4572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6072" y="4425696"/>
            <a:ext cx="1901952" cy="329184"/>
          </a:xfrm>
          <a:prstGeom prst="rect">
            <a:avLst/>
          </a:prstGeom>
          <a:noFill/>
        </p:spPr>
        <p:txBody>
          <a:bodyPr wrap="square">
            <a:spAutoFit/>
          </a:bodyPr>
          <a:lstStyle/>
          <a:p>
            <a:pPr algn="l"/>
            <a:r>
              <a:rPr sz="1100" b="1" i="0">
                <a:solidFill>
                  <a:srgbClr val="007A94"/>
                </a:solidFill>
                <a:latin typeface="Calibri"/>
              </a:rPr>
              <a:t>T-Coffee</a:t>
            </a:r>
          </a:p>
        </p:txBody>
      </p:sp>
      <p:sp>
        <p:nvSpPr>
          <p:cNvPr id="39" name="TextBox 38"/>
          <p:cNvSpPr txBox="1"/>
          <p:nvPr/>
        </p:nvSpPr>
        <p:spPr>
          <a:xfrm>
            <a:off x="2587752" y="4425696"/>
            <a:ext cx="1399031" cy="329184"/>
          </a:xfrm>
          <a:prstGeom prst="rect">
            <a:avLst/>
          </a:prstGeom>
          <a:noFill/>
        </p:spPr>
        <p:txBody>
          <a:bodyPr wrap="square">
            <a:spAutoFit/>
          </a:bodyPr>
          <a:lstStyle/>
          <a:p>
            <a:pPr algn="ctr"/>
            <a:r>
              <a:rPr sz="1100" b="0" i="0">
                <a:solidFill>
                  <a:srgbClr val="C0392B"/>
                </a:solidFill>
                <a:latin typeface="Calibri"/>
              </a:rPr>
              <a:t>5.30 s ⚠</a:t>
            </a:r>
          </a:p>
        </p:txBody>
      </p:sp>
      <p:sp>
        <p:nvSpPr>
          <p:cNvPr id="40" name="TextBox 39"/>
          <p:cNvSpPr txBox="1"/>
          <p:nvPr/>
        </p:nvSpPr>
        <p:spPr>
          <a:xfrm>
            <a:off x="4096512" y="4425696"/>
            <a:ext cx="1399031" cy="329184"/>
          </a:xfrm>
          <a:prstGeom prst="rect">
            <a:avLst/>
          </a:prstGeom>
          <a:noFill/>
        </p:spPr>
        <p:txBody>
          <a:bodyPr wrap="square">
            <a:spAutoFit/>
          </a:bodyPr>
          <a:lstStyle/>
          <a:p>
            <a:pPr algn="ctr"/>
            <a:r>
              <a:rPr sz="1100" b="0" i="0">
                <a:solidFill>
                  <a:srgbClr val="C0392B"/>
                </a:solidFill>
                <a:latin typeface="Calibri"/>
              </a:rPr>
              <a:t>512 MB</a:t>
            </a:r>
          </a:p>
        </p:txBody>
      </p:sp>
      <p:sp>
        <p:nvSpPr>
          <p:cNvPr id="41" name="Rectangle 40"/>
          <p:cNvSpPr/>
          <p:nvPr/>
        </p:nvSpPr>
        <p:spPr>
          <a:xfrm>
            <a:off x="5897880" y="1143000"/>
            <a:ext cx="5788151" cy="1679448"/>
          </a:xfrm>
          <a:prstGeom prst="rect">
            <a:avLst/>
          </a:prstGeom>
          <a:solidFill>
            <a:srgbClr val="E8F8FB"/>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897880" y="1143000"/>
            <a:ext cx="5788151" cy="54864"/>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35040" y="1271016"/>
            <a:ext cx="5559551" cy="329184"/>
          </a:xfrm>
          <a:prstGeom prst="rect">
            <a:avLst/>
          </a:prstGeom>
          <a:noFill/>
        </p:spPr>
        <p:txBody>
          <a:bodyPr wrap="square">
            <a:spAutoFit/>
          </a:bodyPr>
          <a:lstStyle/>
          <a:p>
            <a:pPr algn="l"/>
            <a:r>
              <a:rPr sz="1300" b="1" i="0">
                <a:solidFill>
                  <a:srgbClr val="00A3C4"/>
                </a:solidFill>
                <a:latin typeface="Calibri"/>
              </a:rPr>
              <a:t>FAMSA &amp; MUSCLE5 own the Pareto frontier</a:t>
            </a:r>
          </a:p>
        </p:txBody>
      </p:sp>
      <p:sp>
        <p:nvSpPr>
          <p:cNvPr id="44" name="TextBox 43"/>
          <p:cNvSpPr txBox="1"/>
          <p:nvPr/>
        </p:nvSpPr>
        <p:spPr>
          <a:xfrm>
            <a:off x="6035040" y="1636776"/>
            <a:ext cx="5559551" cy="1130808"/>
          </a:xfrm>
          <a:prstGeom prst="rect">
            <a:avLst/>
          </a:prstGeom>
          <a:noFill/>
        </p:spPr>
        <p:txBody>
          <a:bodyPr wrap="square">
            <a:spAutoFit/>
          </a:bodyPr>
          <a:lstStyle/>
          <a:p>
            <a:pPr algn="l"/>
            <a:r>
              <a:rPr sz="1150" b="0" i="0">
                <a:solidFill>
                  <a:srgbClr val="2D3748"/>
                </a:solidFill>
                <a:latin typeface="Calibri"/>
              </a:rPr>
              <a:t>FAMSA matches Clustal Omega's accuracy at 3× lower runtime.
MUSCLE5 achieves best-in-class accuracy at 2.7× FAMSA's runtime.
No other tool beats either on both dimensions.</a:t>
            </a:r>
          </a:p>
        </p:txBody>
      </p:sp>
      <p:sp>
        <p:nvSpPr>
          <p:cNvPr id="45" name="Rectangle 44"/>
          <p:cNvSpPr/>
          <p:nvPr/>
        </p:nvSpPr>
        <p:spPr>
          <a:xfrm>
            <a:off x="5897880" y="2932176"/>
            <a:ext cx="5788151" cy="1679448"/>
          </a:xfrm>
          <a:prstGeom prst="rect">
            <a:avLst/>
          </a:prstGeom>
          <a:solidFill>
            <a:srgbClr val="FEF2F2"/>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897880" y="2932176"/>
            <a:ext cx="5788151"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35040" y="3060192"/>
            <a:ext cx="5559551" cy="329184"/>
          </a:xfrm>
          <a:prstGeom prst="rect">
            <a:avLst/>
          </a:prstGeom>
          <a:noFill/>
        </p:spPr>
        <p:txBody>
          <a:bodyPr wrap="square">
            <a:spAutoFit/>
          </a:bodyPr>
          <a:lstStyle/>
          <a:p>
            <a:pPr algn="l"/>
            <a:r>
              <a:rPr sz="1300" b="1" i="0">
                <a:solidFill>
                  <a:srgbClr val="C0392B"/>
                </a:solidFill>
                <a:latin typeface="Calibri"/>
              </a:rPr>
              <a:t>T-Coffee: scalability failure</a:t>
            </a:r>
          </a:p>
        </p:txBody>
      </p:sp>
      <p:sp>
        <p:nvSpPr>
          <p:cNvPr id="48" name="TextBox 47"/>
          <p:cNvSpPr txBox="1"/>
          <p:nvPr/>
        </p:nvSpPr>
        <p:spPr>
          <a:xfrm>
            <a:off x="6035040" y="3425952"/>
            <a:ext cx="5559551" cy="1130808"/>
          </a:xfrm>
          <a:prstGeom prst="rect">
            <a:avLst/>
          </a:prstGeom>
          <a:noFill/>
        </p:spPr>
        <p:txBody>
          <a:bodyPr wrap="square">
            <a:spAutoFit/>
          </a:bodyPr>
          <a:lstStyle/>
          <a:p>
            <a:pPr algn="l"/>
            <a:r>
              <a:rPr sz="1150" b="0" i="0">
                <a:solidFill>
                  <a:srgbClr val="2D3748"/>
                </a:solidFill>
                <a:latin typeface="Calibri"/>
              </a:rPr>
              <a:t>Timed out on 11% of BAliBASE problems (&gt; 40 sequences).
O(N²) pairwise library — breaks after ~30–40 sequences.
Reserve for small, curated families only.</a:t>
            </a:r>
          </a:p>
        </p:txBody>
      </p:sp>
      <p:sp>
        <p:nvSpPr>
          <p:cNvPr id="49" name="Rectangle 48"/>
          <p:cNvSpPr/>
          <p:nvPr/>
        </p:nvSpPr>
        <p:spPr>
          <a:xfrm>
            <a:off x="5897880" y="4721352"/>
            <a:ext cx="5788151" cy="1679448"/>
          </a:xfrm>
          <a:prstGeom prst="rect">
            <a:avLst/>
          </a:prstGeom>
          <a:solidFill>
            <a:srgbClr val="FEF9EC"/>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897880" y="4721352"/>
            <a:ext cx="5788151" cy="54864"/>
          </a:xfrm>
          <a:prstGeom prst="rect">
            <a:avLst/>
          </a:prstGeom>
          <a:solidFill>
            <a:srgbClr val="D3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35040" y="4849367"/>
            <a:ext cx="5559551" cy="329184"/>
          </a:xfrm>
          <a:prstGeom prst="rect">
            <a:avLst/>
          </a:prstGeom>
          <a:noFill/>
        </p:spPr>
        <p:txBody>
          <a:bodyPr wrap="square">
            <a:spAutoFit/>
          </a:bodyPr>
          <a:lstStyle/>
          <a:p>
            <a:pPr algn="l"/>
            <a:r>
              <a:rPr sz="1300" b="1" i="0">
                <a:solidFill>
                  <a:srgbClr val="D37800"/>
                </a:solidFill>
                <a:latin typeface="Calibri"/>
              </a:rPr>
              <a:t>Clustal Omega: unexpected failure at scale</a:t>
            </a:r>
          </a:p>
        </p:txBody>
      </p:sp>
      <p:sp>
        <p:nvSpPr>
          <p:cNvPr id="52" name="TextBox 51"/>
          <p:cNvSpPr txBox="1"/>
          <p:nvPr/>
        </p:nvSpPr>
        <p:spPr>
          <a:xfrm>
            <a:off x="6035040" y="5215128"/>
            <a:ext cx="5559551" cy="1130808"/>
          </a:xfrm>
          <a:prstGeom prst="rect">
            <a:avLst/>
          </a:prstGeom>
          <a:noFill/>
        </p:spPr>
        <p:txBody>
          <a:bodyPr wrap="square">
            <a:spAutoFit/>
          </a:bodyPr>
          <a:lstStyle/>
          <a:p>
            <a:pPr algn="l"/>
            <a:r>
              <a:rPr sz="1150" b="0" i="0">
                <a:solidFill>
                  <a:srgbClr val="2D3748"/>
                </a:solidFill>
                <a:latin typeface="Calibri"/>
              </a:rPr>
              <a:t>78% timeout rate on PREFAB4's 50-sequence problems.
Distance matrix bottleneck without profile reuse.
Do not use in genome-scale pipelines.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83111" cy="658368"/>
          </a:xfrm>
          <a:prstGeom prst="rect">
            <a:avLst/>
          </a:prstGeom>
          <a:noFill/>
        </p:spPr>
        <p:txBody>
          <a:bodyPr wrap="square">
            <a:spAutoFit/>
          </a:bodyPr>
          <a:lstStyle/>
          <a:p>
            <a:pPr algn="l"/>
            <a:r>
              <a:rPr sz="2400" b="1" i="0">
                <a:solidFill>
                  <a:srgbClr val="2D3748"/>
                </a:solidFill>
                <a:latin typeface="Calibri"/>
              </a:rPr>
              <a:t>Rankings Generalise Across All Four Benchmarks</a:t>
            </a:r>
          </a:p>
        </p:txBody>
      </p:sp>
      <p:sp>
        <p:nvSpPr>
          <p:cNvPr id="4" name="TextBox 3"/>
          <p:cNvSpPr txBox="1"/>
          <p:nvPr/>
        </p:nvSpPr>
        <p:spPr>
          <a:xfrm>
            <a:off x="502920" y="749808"/>
            <a:ext cx="10725911" cy="329184"/>
          </a:xfrm>
          <a:prstGeom prst="rect">
            <a:avLst/>
          </a:prstGeom>
          <a:noFill/>
        </p:spPr>
        <p:txBody>
          <a:bodyPr wrap="square">
            <a:spAutoFit/>
          </a:bodyPr>
          <a:lstStyle/>
          <a:p>
            <a:pPr algn="l"/>
            <a:r>
              <a:rPr sz="1200" b="0" i="1">
                <a:solidFill>
                  <a:srgbClr val="00A3C4"/>
                </a:solidFill>
                <a:latin typeface="Calibri"/>
              </a:rPr>
              <a:t>Mean SP score — successful completions only</a:t>
            </a:r>
          </a:p>
        </p:txBody>
      </p:sp>
      <p:sp>
        <p:nvSpPr>
          <p:cNvPr id="5" name="Rectangle 4"/>
          <p:cNvSpPr/>
          <p:nvPr/>
        </p:nvSpPr>
        <p:spPr>
          <a:xfrm>
            <a:off x="0" y="6492240"/>
            <a:ext cx="12188952" cy="36576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3"/>
            <a:ext cx="9144000" cy="274320"/>
          </a:xfrm>
          <a:prstGeom prst="rect">
            <a:avLst/>
          </a:prstGeom>
          <a:noFill/>
        </p:spPr>
        <p:txBody>
          <a:bodyPr wrap="square">
            <a:spAutoFit/>
          </a:bodyPr>
          <a:lstStyle/>
          <a:p>
            <a:pPr algn="l"/>
            <a:r>
              <a:rPr sz="900" b="0" i="0">
                <a:solidFill>
                  <a:srgbClr val="718096"/>
                </a:solidFill>
                <a:latin typeface="Calibri"/>
              </a:rPr>
              <a:t>CS 502 — Computational Biology  |  UIC  |  Spring 2026</a:t>
            </a:r>
          </a:p>
        </p:txBody>
      </p:sp>
      <p:sp>
        <p:nvSpPr>
          <p:cNvPr id="8" name="TextBox 7"/>
          <p:cNvSpPr txBox="1"/>
          <p:nvPr/>
        </p:nvSpPr>
        <p:spPr>
          <a:xfrm>
            <a:off x="11045952" y="6547103"/>
            <a:ext cx="640080" cy="274320"/>
          </a:xfrm>
          <a:prstGeom prst="rect">
            <a:avLst/>
          </a:prstGeom>
          <a:noFill/>
        </p:spPr>
        <p:txBody>
          <a:bodyPr wrap="square">
            <a:spAutoFit/>
          </a:bodyPr>
          <a:lstStyle/>
          <a:p>
            <a:pPr algn="r"/>
            <a:r>
              <a:rPr sz="900" b="1" i="0">
                <a:solidFill>
                  <a:srgbClr val="00A3C4"/>
                </a:solidFill>
                <a:latin typeface="Calibri"/>
              </a:rPr>
              <a:t>9 / 10</a:t>
            </a:r>
          </a:p>
        </p:txBody>
      </p:sp>
      <p:sp>
        <p:nvSpPr>
          <p:cNvPr id="9" name="Rectangle 8"/>
          <p:cNvSpPr/>
          <p:nvPr/>
        </p:nvSpPr>
        <p:spPr>
          <a:xfrm>
            <a:off x="502920" y="1143000"/>
            <a:ext cx="11183112" cy="475488"/>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1225296"/>
            <a:ext cx="2084831" cy="329184"/>
          </a:xfrm>
          <a:prstGeom prst="rect">
            <a:avLst/>
          </a:prstGeom>
          <a:noFill/>
        </p:spPr>
        <p:txBody>
          <a:bodyPr wrap="square">
            <a:spAutoFit/>
          </a:bodyPr>
          <a:lstStyle/>
          <a:p>
            <a:pPr algn="ctr"/>
            <a:r>
              <a:rPr sz="1100" b="1" i="0">
                <a:solidFill>
                  <a:srgbClr val="FFFFFF"/>
                </a:solidFill>
                <a:latin typeface="Calibri"/>
              </a:rPr>
              <a:t>Aligner</a:t>
            </a:r>
          </a:p>
        </p:txBody>
      </p:sp>
      <p:sp>
        <p:nvSpPr>
          <p:cNvPr id="11" name="TextBox 10"/>
          <p:cNvSpPr txBox="1"/>
          <p:nvPr/>
        </p:nvSpPr>
        <p:spPr>
          <a:xfrm>
            <a:off x="2770632" y="1225296"/>
            <a:ext cx="1883664" cy="329184"/>
          </a:xfrm>
          <a:prstGeom prst="rect">
            <a:avLst/>
          </a:prstGeom>
          <a:noFill/>
        </p:spPr>
        <p:txBody>
          <a:bodyPr wrap="square">
            <a:spAutoFit/>
          </a:bodyPr>
          <a:lstStyle/>
          <a:p>
            <a:pPr algn="ctr"/>
            <a:r>
              <a:rPr sz="1100" b="1" i="0">
                <a:solidFill>
                  <a:srgbClr val="FFFFFF"/>
                </a:solidFill>
                <a:latin typeface="Calibri"/>
              </a:rPr>
              <a:t>BAliBASE (n=386)</a:t>
            </a:r>
          </a:p>
        </p:txBody>
      </p:sp>
      <p:sp>
        <p:nvSpPr>
          <p:cNvPr id="12" name="TextBox 11"/>
          <p:cNvSpPr txBox="1"/>
          <p:nvPr/>
        </p:nvSpPr>
        <p:spPr>
          <a:xfrm>
            <a:off x="4764024" y="1225296"/>
            <a:ext cx="1883664" cy="329184"/>
          </a:xfrm>
          <a:prstGeom prst="rect">
            <a:avLst/>
          </a:prstGeom>
          <a:noFill/>
        </p:spPr>
        <p:txBody>
          <a:bodyPr wrap="square">
            <a:spAutoFit/>
          </a:bodyPr>
          <a:lstStyle/>
          <a:p>
            <a:pPr algn="ctr"/>
            <a:r>
              <a:rPr sz="1100" b="1" i="0">
                <a:solidFill>
                  <a:srgbClr val="FFFFFF"/>
                </a:solidFill>
                <a:latin typeface="Calibri"/>
              </a:rPr>
              <a:t>OXBench (n=395)</a:t>
            </a:r>
          </a:p>
        </p:txBody>
      </p:sp>
      <p:sp>
        <p:nvSpPr>
          <p:cNvPr id="13" name="TextBox 12"/>
          <p:cNvSpPr txBox="1"/>
          <p:nvPr/>
        </p:nvSpPr>
        <p:spPr>
          <a:xfrm>
            <a:off x="6757416" y="1225296"/>
            <a:ext cx="1883664" cy="329184"/>
          </a:xfrm>
          <a:prstGeom prst="rect">
            <a:avLst/>
          </a:prstGeom>
          <a:noFill/>
        </p:spPr>
        <p:txBody>
          <a:bodyPr wrap="square">
            <a:spAutoFit/>
          </a:bodyPr>
          <a:lstStyle/>
          <a:p>
            <a:pPr algn="ctr"/>
            <a:r>
              <a:rPr sz="1100" b="1" i="0">
                <a:solidFill>
                  <a:srgbClr val="FFFFFF"/>
                </a:solidFill>
                <a:latin typeface="Calibri"/>
              </a:rPr>
              <a:t>SABRE (n=423)</a:t>
            </a:r>
          </a:p>
        </p:txBody>
      </p:sp>
      <p:sp>
        <p:nvSpPr>
          <p:cNvPr id="14" name="TextBox 13"/>
          <p:cNvSpPr txBox="1"/>
          <p:nvPr/>
        </p:nvSpPr>
        <p:spPr>
          <a:xfrm>
            <a:off x="8750808" y="1225296"/>
            <a:ext cx="2898648" cy="329184"/>
          </a:xfrm>
          <a:prstGeom prst="rect">
            <a:avLst/>
          </a:prstGeom>
          <a:noFill/>
        </p:spPr>
        <p:txBody>
          <a:bodyPr wrap="square">
            <a:spAutoFit/>
          </a:bodyPr>
          <a:lstStyle/>
          <a:p>
            <a:pPr algn="ctr"/>
            <a:r>
              <a:rPr sz="1100" b="1" i="0">
                <a:solidFill>
                  <a:srgbClr val="FFFFFF"/>
                </a:solidFill>
                <a:latin typeface="Calibri"/>
              </a:rPr>
              <a:t>PREFAB4</a:t>
            </a:r>
          </a:p>
        </p:txBody>
      </p:sp>
      <p:sp>
        <p:nvSpPr>
          <p:cNvPr id="15" name="Rectangle 14"/>
          <p:cNvSpPr/>
          <p:nvPr/>
        </p:nvSpPr>
        <p:spPr>
          <a:xfrm>
            <a:off x="502920" y="1618488"/>
            <a:ext cx="11183112" cy="475488"/>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 y="1700784"/>
            <a:ext cx="2084831" cy="329184"/>
          </a:xfrm>
          <a:prstGeom prst="rect">
            <a:avLst/>
          </a:prstGeom>
          <a:noFill/>
        </p:spPr>
        <p:txBody>
          <a:bodyPr wrap="square">
            <a:spAutoFit/>
          </a:bodyPr>
          <a:lstStyle/>
          <a:p>
            <a:pPr algn="l"/>
            <a:r>
              <a:rPr sz="1100" b="1" i="0">
                <a:solidFill>
                  <a:srgbClr val="007A94"/>
                </a:solidFill>
                <a:latin typeface="Calibri"/>
              </a:rPr>
              <a:t>MUSCLE5</a:t>
            </a:r>
          </a:p>
        </p:txBody>
      </p:sp>
      <p:sp>
        <p:nvSpPr>
          <p:cNvPr id="17" name="TextBox 16"/>
          <p:cNvSpPr txBox="1"/>
          <p:nvPr/>
        </p:nvSpPr>
        <p:spPr>
          <a:xfrm>
            <a:off x="2770632" y="1700784"/>
            <a:ext cx="1883664" cy="329184"/>
          </a:xfrm>
          <a:prstGeom prst="rect">
            <a:avLst/>
          </a:prstGeom>
          <a:noFill/>
        </p:spPr>
        <p:txBody>
          <a:bodyPr wrap="square">
            <a:spAutoFit/>
          </a:bodyPr>
          <a:lstStyle/>
          <a:p>
            <a:pPr algn="ctr"/>
            <a:r>
              <a:rPr sz="1100" b="0" i="0">
                <a:solidFill>
                  <a:srgbClr val="2D3748"/>
                </a:solidFill>
                <a:latin typeface="Calibri"/>
              </a:rPr>
              <a:t>0.761</a:t>
            </a:r>
          </a:p>
        </p:txBody>
      </p:sp>
      <p:sp>
        <p:nvSpPr>
          <p:cNvPr id="18" name="TextBox 17"/>
          <p:cNvSpPr txBox="1"/>
          <p:nvPr/>
        </p:nvSpPr>
        <p:spPr>
          <a:xfrm>
            <a:off x="4764024" y="1700784"/>
            <a:ext cx="1883664" cy="329184"/>
          </a:xfrm>
          <a:prstGeom prst="rect">
            <a:avLst/>
          </a:prstGeom>
          <a:noFill/>
        </p:spPr>
        <p:txBody>
          <a:bodyPr wrap="square">
            <a:spAutoFit/>
          </a:bodyPr>
          <a:lstStyle/>
          <a:p>
            <a:pPr algn="ctr"/>
            <a:r>
              <a:rPr sz="1100" b="0" i="0">
                <a:solidFill>
                  <a:srgbClr val="2D3748"/>
                </a:solidFill>
                <a:latin typeface="Calibri"/>
              </a:rPr>
              <a:t>0.898</a:t>
            </a:r>
          </a:p>
        </p:txBody>
      </p:sp>
      <p:sp>
        <p:nvSpPr>
          <p:cNvPr id="19" name="TextBox 18"/>
          <p:cNvSpPr txBox="1"/>
          <p:nvPr/>
        </p:nvSpPr>
        <p:spPr>
          <a:xfrm>
            <a:off x="6757416" y="1700784"/>
            <a:ext cx="1883664" cy="329184"/>
          </a:xfrm>
          <a:prstGeom prst="rect">
            <a:avLst/>
          </a:prstGeom>
          <a:noFill/>
        </p:spPr>
        <p:txBody>
          <a:bodyPr wrap="square">
            <a:spAutoFit/>
          </a:bodyPr>
          <a:lstStyle/>
          <a:p>
            <a:pPr algn="ctr"/>
            <a:r>
              <a:rPr sz="1100" b="0" i="0">
                <a:solidFill>
                  <a:srgbClr val="2D3748"/>
                </a:solidFill>
                <a:latin typeface="Calibri"/>
              </a:rPr>
              <a:t>0.600</a:t>
            </a:r>
          </a:p>
        </p:txBody>
      </p:sp>
      <p:sp>
        <p:nvSpPr>
          <p:cNvPr id="20" name="TextBox 19"/>
          <p:cNvSpPr txBox="1"/>
          <p:nvPr/>
        </p:nvSpPr>
        <p:spPr>
          <a:xfrm>
            <a:off x="8750808" y="1700784"/>
            <a:ext cx="2898648" cy="329184"/>
          </a:xfrm>
          <a:prstGeom prst="rect">
            <a:avLst/>
          </a:prstGeom>
          <a:noFill/>
        </p:spPr>
        <p:txBody>
          <a:bodyPr wrap="square">
            <a:spAutoFit/>
          </a:bodyPr>
          <a:lstStyle/>
          <a:p>
            <a:pPr algn="ctr"/>
            <a:r>
              <a:rPr sz="1100" b="0" i="0">
                <a:solidFill>
                  <a:srgbClr val="2D3748"/>
                </a:solidFill>
                <a:latin typeface="Calibri"/>
              </a:rPr>
              <a:t>0.690  (n = 1,681)</a:t>
            </a:r>
          </a:p>
        </p:txBody>
      </p:sp>
      <p:sp>
        <p:nvSpPr>
          <p:cNvPr id="21" name="Rectangle 20"/>
          <p:cNvSpPr/>
          <p:nvPr/>
        </p:nvSpPr>
        <p:spPr>
          <a:xfrm>
            <a:off x="502920" y="2093976"/>
            <a:ext cx="11183112" cy="475488"/>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 y="2176272"/>
            <a:ext cx="2084831" cy="329184"/>
          </a:xfrm>
          <a:prstGeom prst="rect">
            <a:avLst/>
          </a:prstGeom>
          <a:noFill/>
        </p:spPr>
        <p:txBody>
          <a:bodyPr wrap="square">
            <a:spAutoFit/>
          </a:bodyPr>
          <a:lstStyle/>
          <a:p>
            <a:pPr algn="l"/>
            <a:r>
              <a:rPr sz="1100" b="1" i="0">
                <a:solidFill>
                  <a:srgbClr val="007A94"/>
                </a:solidFill>
                <a:latin typeface="Calibri"/>
              </a:rPr>
              <a:t>T-Coffee</a:t>
            </a:r>
          </a:p>
        </p:txBody>
      </p:sp>
      <p:sp>
        <p:nvSpPr>
          <p:cNvPr id="23" name="TextBox 22"/>
          <p:cNvSpPr txBox="1"/>
          <p:nvPr/>
        </p:nvSpPr>
        <p:spPr>
          <a:xfrm>
            <a:off x="2770632" y="2176272"/>
            <a:ext cx="1883664" cy="329184"/>
          </a:xfrm>
          <a:prstGeom prst="rect">
            <a:avLst/>
          </a:prstGeom>
          <a:noFill/>
        </p:spPr>
        <p:txBody>
          <a:bodyPr wrap="square">
            <a:spAutoFit/>
          </a:bodyPr>
          <a:lstStyle/>
          <a:p>
            <a:pPr algn="ctr"/>
            <a:r>
              <a:rPr sz="1100" b="0" i="0">
                <a:solidFill>
                  <a:srgbClr val="2D3748"/>
                </a:solidFill>
                <a:latin typeface="Calibri"/>
              </a:rPr>
              <a:t>0.746</a:t>
            </a:r>
          </a:p>
        </p:txBody>
      </p:sp>
      <p:sp>
        <p:nvSpPr>
          <p:cNvPr id="24" name="TextBox 23"/>
          <p:cNvSpPr txBox="1"/>
          <p:nvPr/>
        </p:nvSpPr>
        <p:spPr>
          <a:xfrm>
            <a:off x="4764024" y="2176272"/>
            <a:ext cx="1883664" cy="329184"/>
          </a:xfrm>
          <a:prstGeom prst="rect">
            <a:avLst/>
          </a:prstGeom>
          <a:noFill/>
        </p:spPr>
        <p:txBody>
          <a:bodyPr wrap="square">
            <a:spAutoFit/>
          </a:bodyPr>
          <a:lstStyle/>
          <a:p>
            <a:pPr algn="ctr"/>
            <a:r>
              <a:rPr sz="1100" b="0" i="0">
                <a:solidFill>
                  <a:srgbClr val="2D3748"/>
                </a:solidFill>
                <a:latin typeface="Calibri"/>
              </a:rPr>
              <a:t>0.898</a:t>
            </a:r>
          </a:p>
        </p:txBody>
      </p:sp>
      <p:sp>
        <p:nvSpPr>
          <p:cNvPr id="25" name="TextBox 24"/>
          <p:cNvSpPr txBox="1"/>
          <p:nvPr/>
        </p:nvSpPr>
        <p:spPr>
          <a:xfrm>
            <a:off x="6757416" y="2176272"/>
            <a:ext cx="1883664" cy="329184"/>
          </a:xfrm>
          <a:prstGeom prst="rect">
            <a:avLst/>
          </a:prstGeom>
          <a:noFill/>
        </p:spPr>
        <p:txBody>
          <a:bodyPr wrap="square">
            <a:spAutoFit/>
          </a:bodyPr>
          <a:lstStyle/>
          <a:p>
            <a:pPr algn="ctr"/>
            <a:r>
              <a:rPr sz="1100" b="0" i="0">
                <a:solidFill>
                  <a:srgbClr val="2D3748"/>
                </a:solidFill>
                <a:latin typeface="Calibri"/>
              </a:rPr>
              <a:t>0.597</a:t>
            </a:r>
          </a:p>
        </p:txBody>
      </p:sp>
      <p:sp>
        <p:nvSpPr>
          <p:cNvPr id="26" name="TextBox 25"/>
          <p:cNvSpPr txBox="1"/>
          <p:nvPr/>
        </p:nvSpPr>
        <p:spPr>
          <a:xfrm>
            <a:off x="8750808" y="2176272"/>
            <a:ext cx="2898648" cy="329184"/>
          </a:xfrm>
          <a:prstGeom prst="rect">
            <a:avLst/>
          </a:prstGeom>
          <a:noFill/>
        </p:spPr>
        <p:txBody>
          <a:bodyPr wrap="square">
            <a:spAutoFit/>
          </a:bodyPr>
          <a:lstStyle/>
          <a:p>
            <a:pPr algn="ctr"/>
            <a:r>
              <a:rPr sz="1100" b="0" i="0">
                <a:solidFill>
                  <a:srgbClr val="C0392B"/>
                </a:solidFill>
                <a:latin typeface="Calibri"/>
              </a:rPr>
              <a:t>0.680  (n = 1,596)  ‡</a:t>
            </a:r>
          </a:p>
        </p:txBody>
      </p:sp>
      <p:sp>
        <p:nvSpPr>
          <p:cNvPr id="27" name="Rectangle 26"/>
          <p:cNvSpPr/>
          <p:nvPr/>
        </p:nvSpPr>
        <p:spPr>
          <a:xfrm>
            <a:off x="502920" y="2569464"/>
            <a:ext cx="11183112" cy="475488"/>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2" y="2651760"/>
            <a:ext cx="2084831" cy="329184"/>
          </a:xfrm>
          <a:prstGeom prst="rect">
            <a:avLst/>
          </a:prstGeom>
          <a:noFill/>
        </p:spPr>
        <p:txBody>
          <a:bodyPr wrap="square">
            <a:spAutoFit/>
          </a:bodyPr>
          <a:lstStyle/>
          <a:p>
            <a:pPr algn="l"/>
            <a:r>
              <a:rPr sz="1100" b="1" i="0">
                <a:solidFill>
                  <a:srgbClr val="007A94"/>
                </a:solidFill>
                <a:latin typeface="Calibri"/>
              </a:rPr>
              <a:t>MAFFT L-INS-i</a:t>
            </a:r>
          </a:p>
        </p:txBody>
      </p:sp>
      <p:sp>
        <p:nvSpPr>
          <p:cNvPr id="29" name="TextBox 28"/>
          <p:cNvSpPr txBox="1"/>
          <p:nvPr/>
        </p:nvSpPr>
        <p:spPr>
          <a:xfrm>
            <a:off x="2770632" y="2651760"/>
            <a:ext cx="1883664" cy="329184"/>
          </a:xfrm>
          <a:prstGeom prst="rect">
            <a:avLst/>
          </a:prstGeom>
          <a:noFill/>
        </p:spPr>
        <p:txBody>
          <a:bodyPr wrap="square">
            <a:spAutoFit/>
          </a:bodyPr>
          <a:lstStyle/>
          <a:p>
            <a:pPr algn="ctr"/>
            <a:r>
              <a:rPr sz="1100" b="0" i="0">
                <a:solidFill>
                  <a:srgbClr val="2D3748"/>
                </a:solidFill>
                <a:latin typeface="Calibri"/>
              </a:rPr>
              <a:t>0.743</a:t>
            </a:r>
          </a:p>
        </p:txBody>
      </p:sp>
      <p:sp>
        <p:nvSpPr>
          <p:cNvPr id="30" name="TextBox 29"/>
          <p:cNvSpPr txBox="1"/>
          <p:nvPr/>
        </p:nvSpPr>
        <p:spPr>
          <a:xfrm>
            <a:off x="4764024" y="2651760"/>
            <a:ext cx="1883664" cy="329184"/>
          </a:xfrm>
          <a:prstGeom prst="rect">
            <a:avLst/>
          </a:prstGeom>
          <a:noFill/>
        </p:spPr>
        <p:txBody>
          <a:bodyPr wrap="square">
            <a:spAutoFit/>
          </a:bodyPr>
          <a:lstStyle/>
          <a:p>
            <a:pPr algn="ctr"/>
            <a:r>
              <a:rPr sz="1100" b="0" i="0">
                <a:solidFill>
                  <a:srgbClr val="2D3748"/>
                </a:solidFill>
                <a:latin typeface="Calibri"/>
              </a:rPr>
              <a:t>0.886</a:t>
            </a:r>
          </a:p>
        </p:txBody>
      </p:sp>
      <p:sp>
        <p:nvSpPr>
          <p:cNvPr id="31" name="TextBox 30"/>
          <p:cNvSpPr txBox="1"/>
          <p:nvPr/>
        </p:nvSpPr>
        <p:spPr>
          <a:xfrm>
            <a:off x="6757416" y="2651760"/>
            <a:ext cx="1883664" cy="329184"/>
          </a:xfrm>
          <a:prstGeom prst="rect">
            <a:avLst/>
          </a:prstGeom>
          <a:noFill/>
        </p:spPr>
        <p:txBody>
          <a:bodyPr wrap="square">
            <a:spAutoFit/>
          </a:bodyPr>
          <a:lstStyle/>
          <a:p>
            <a:pPr algn="ctr"/>
            <a:r>
              <a:rPr sz="1100" b="0" i="0">
                <a:solidFill>
                  <a:srgbClr val="2D3748"/>
                </a:solidFill>
                <a:latin typeface="Calibri"/>
              </a:rPr>
              <a:t>0.575</a:t>
            </a:r>
          </a:p>
        </p:txBody>
      </p:sp>
      <p:sp>
        <p:nvSpPr>
          <p:cNvPr id="32" name="TextBox 31"/>
          <p:cNvSpPr txBox="1"/>
          <p:nvPr/>
        </p:nvSpPr>
        <p:spPr>
          <a:xfrm>
            <a:off x="8750808" y="2651760"/>
            <a:ext cx="2898648" cy="329184"/>
          </a:xfrm>
          <a:prstGeom prst="rect">
            <a:avLst/>
          </a:prstGeom>
          <a:noFill/>
        </p:spPr>
        <p:txBody>
          <a:bodyPr wrap="square">
            <a:spAutoFit/>
          </a:bodyPr>
          <a:lstStyle/>
          <a:p>
            <a:pPr algn="ctr"/>
            <a:r>
              <a:rPr sz="1100" b="0" i="0">
                <a:solidFill>
                  <a:srgbClr val="2D3748"/>
                </a:solidFill>
                <a:latin typeface="Calibri"/>
              </a:rPr>
              <a:t>0.694  (n = 1,681)</a:t>
            </a:r>
          </a:p>
        </p:txBody>
      </p:sp>
      <p:sp>
        <p:nvSpPr>
          <p:cNvPr id="33" name="Rectangle 32"/>
          <p:cNvSpPr/>
          <p:nvPr/>
        </p:nvSpPr>
        <p:spPr>
          <a:xfrm>
            <a:off x="502920" y="3044952"/>
            <a:ext cx="1118311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6072" y="3127248"/>
            <a:ext cx="2084831" cy="329184"/>
          </a:xfrm>
          <a:prstGeom prst="rect">
            <a:avLst/>
          </a:prstGeom>
          <a:noFill/>
        </p:spPr>
        <p:txBody>
          <a:bodyPr wrap="square">
            <a:spAutoFit/>
          </a:bodyPr>
          <a:lstStyle/>
          <a:p>
            <a:pPr algn="l"/>
            <a:r>
              <a:rPr sz="1100" b="1" i="0">
                <a:solidFill>
                  <a:srgbClr val="007A94"/>
                </a:solidFill>
                <a:latin typeface="Calibri"/>
              </a:rPr>
              <a:t>FAMSA</a:t>
            </a:r>
          </a:p>
        </p:txBody>
      </p:sp>
      <p:sp>
        <p:nvSpPr>
          <p:cNvPr id="35" name="TextBox 34"/>
          <p:cNvSpPr txBox="1"/>
          <p:nvPr/>
        </p:nvSpPr>
        <p:spPr>
          <a:xfrm>
            <a:off x="2770632" y="3127248"/>
            <a:ext cx="1883664" cy="329184"/>
          </a:xfrm>
          <a:prstGeom prst="rect">
            <a:avLst/>
          </a:prstGeom>
          <a:noFill/>
        </p:spPr>
        <p:txBody>
          <a:bodyPr wrap="square">
            <a:spAutoFit/>
          </a:bodyPr>
          <a:lstStyle/>
          <a:p>
            <a:pPr algn="ctr"/>
            <a:r>
              <a:rPr sz="1100" b="0" i="0">
                <a:solidFill>
                  <a:srgbClr val="2D3748"/>
                </a:solidFill>
                <a:latin typeface="Calibri"/>
              </a:rPr>
              <a:t>0.718</a:t>
            </a:r>
          </a:p>
        </p:txBody>
      </p:sp>
      <p:sp>
        <p:nvSpPr>
          <p:cNvPr id="36" name="TextBox 35"/>
          <p:cNvSpPr txBox="1"/>
          <p:nvPr/>
        </p:nvSpPr>
        <p:spPr>
          <a:xfrm>
            <a:off x="4764024" y="3127248"/>
            <a:ext cx="1883664" cy="329184"/>
          </a:xfrm>
          <a:prstGeom prst="rect">
            <a:avLst/>
          </a:prstGeom>
          <a:noFill/>
        </p:spPr>
        <p:txBody>
          <a:bodyPr wrap="square">
            <a:spAutoFit/>
          </a:bodyPr>
          <a:lstStyle/>
          <a:p>
            <a:pPr algn="ctr"/>
            <a:r>
              <a:rPr sz="1100" b="0" i="0">
                <a:solidFill>
                  <a:srgbClr val="2D3748"/>
                </a:solidFill>
                <a:latin typeface="Calibri"/>
              </a:rPr>
              <a:t>0.896</a:t>
            </a:r>
          </a:p>
        </p:txBody>
      </p:sp>
      <p:sp>
        <p:nvSpPr>
          <p:cNvPr id="37" name="TextBox 36"/>
          <p:cNvSpPr txBox="1"/>
          <p:nvPr/>
        </p:nvSpPr>
        <p:spPr>
          <a:xfrm>
            <a:off x="6757416" y="3127248"/>
            <a:ext cx="1883664" cy="329184"/>
          </a:xfrm>
          <a:prstGeom prst="rect">
            <a:avLst/>
          </a:prstGeom>
          <a:noFill/>
        </p:spPr>
        <p:txBody>
          <a:bodyPr wrap="square">
            <a:spAutoFit/>
          </a:bodyPr>
          <a:lstStyle/>
          <a:p>
            <a:pPr algn="ctr"/>
            <a:r>
              <a:rPr sz="1100" b="0" i="0">
                <a:solidFill>
                  <a:srgbClr val="2D3748"/>
                </a:solidFill>
                <a:latin typeface="Calibri"/>
              </a:rPr>
              <a:t>0.565</a:t>
            </a:r>
          </a:p>
        </p:txBody>
      </p:sp>
      <p:sp>
        <p:nvSpPr>
          <p:cNvPr id="38" name="TextBox 37"/>
          <p:cNvSpPr txBox="1"/>
          <p:nvPr/>
        </p:nvSpPr>
        <p:spPr>
          <a:xfrm>
            <a:off x="8750808" y="3127248"/>
            <a:ext cx="2898648" cy="329184"/>
          </a:xfrm>
          <a:prstGeom prst="rect">
            <a:avLst/>
          </a:prstGeom>
          <a:noFill/>
        </p:spPr>
        <p:txBody>
          <a:bodyPr wrap="square">
            <a:spAutoFit/>
          </a:bodyPr>
          <a:lstStyle/>
          <a:p>
            <a:pPr algn="ctr"/>
            <a:r>
              <a:rPr sz="1100" b="0" i="0">
                <a:solidFill>
                  <a:srgbClr val="2D3748"/>
                </a:solidFill>
                <a:latin typeface="Calibri"/>
              </a:rPr>
              <a:t>0.659  (n = 1,681)</a:t>
            </a:r>
          </a:p>
        </p:txBody>
      </p:sp>
      <p:sp>
        <p:nvSpPr>
          <p:cNvPr id="39" name="Rectangle 38"/>
          <p:cNvSpPr/>
          <p:nvPr/>
        </p:nvSpPr>
        <p:spPr>
          <a:xfrm>
            <a:off x="502920" y="3520440"/>
            <a:ext cx="11183112" cy="475488"/>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6072" y="3602736"/>
            <a:ext cx="2084831" cy="329184"/>
          </a:xfrm>
          <a:prstGeom prst="rect">
            <a:avLst/>
          </a:prstGeom>
          <a:noFill/>
        </p:spPr>
        <p:txBody>
          <a:bodyPr wrap="square">
            <a:spAutoFit/>
          </a:bodyPr>
          <a:lstStyle/>
          <a:p>
            <a:pPr algn="l"/>
            <a:r>
              <a:rPr sz="1100" b="1" i="0">
                <a:solidFill>
                  <a:srgbClr val="007A94"/>
                </a:solidFill>
                <a:latin typeface="Calibri"/>
              </a:rPr>
              <a:t>Clustal Omega</a:t>
            </a:r>
          </a:p>
        </p:txBody>
      </p:sp>
      <p:sp>
        <p:nvSpPr>
          <p:cNvPr id="41" name="TextBox 40"/>
          <p:cNvSpPr txBox="1"/>
          <p:nvPr/>
        </p:nvSpPr>
        <p:spPr>
          <a:xfrm>
            <a:off x="2770632" y="3602736"/>
            <a:ext cx="1883664" cy="329184"/>
          </a:xfrm>
          <a:prstGeom prst="rect">
            <a:avLst/>
          </a:prstGeom>
          <a:noFill/>
        </p:spPr>
        <p:txBody>
          <a:bodyPr wrap="square">
            <a:spAutoFit/>
          </a:bodyPr>
          <a:lstStyle/>
          <a:p>
            <a:pPr algn="ctr"/>
            <a:r>
              <a:rPr sz="1100" b="0" i="0">
                <a:solidFill>
                  <a:srgbClr val="2D3748"/>
                </a:solidFill>
                <a:latin typeface="Calibri"/>
              </a:rPr>
              <a:t>0.718</a:t>
            </a:r>
          </a:p>
        </p:txBody>
      </p:sp>
      <p:sp>
        <p:nvSpPr>
          <p:cNvPr id="42" name="TextBox 41"/>
          <p:cNvSpPr txBox="1"/>
          <p:nvPr/>
        </p:nvSpPr>
        <p:spPr>
          <a:xfrm>
            <a:off x="4764024" y="3602736"/>
            <a:ext cx="1883664" cy="329184"/>
          </a:xfrm>
          <a:prstGeom prst="rect">
            <a:avLst/>
          </a:prstGeom>
          <a:noFill/>
        </p:spPr>
        <p:txBody>
          <a:bodyPr wrap="square">
            <a:spAutoFit/>
          </a:bodyPr>
          <a:lstStyle/>
          <a:p>
            <a:pPr algn="ctr"/>
            <a:r>
              <a:rPr sz="1100" b="0" i="0">
                <a:solidFill>
                  <a:srgbClr val="2D3748"/>
                </a:solidFill>
                <a:latin typeface="Calibri"/>
              </a:rPr>
              <a:t>0.889</a:t>
            </a:r>
          </a:p>
        </p:txBody>
      </p:sp>
      <p:sp>
        <p:nvSpPr>
          <p:cNvPr id="43" name="TextBox 42"/>
          <p:cNvSpPr txBox="1"/>
          <p:nvPr/>
        </p:nvSpPr>
        <p:spPr>
          <a:xfrm>
            <a:off x="6757416" y="3602736"/>
            <a:ext cx="1883664" cy="329184"/>
          </a:xfrm>
          <a:prstGeom prst="rect">
            <a:avLst/>
          </a:prstGeom>
          <a:noFill/>
        </p:spPr>
        <p:txBody>
          <a:bodyPr wrap="square">
            <a:spAutoFit/>
          </a:bodyPr>
          <a:lstStyle/>
          <a:p>
            <a:pPr algn="ctr"/>
            <a:r>
              <a:rPr sz="1100" b="0" i="0">
                <a:solidFill>
                  <a:srgbClr val="2D3748"/>
                </a:solidFill>
                <a:latin typeface="Calibri"/>
              </a:rPr>
              <a:t>0.551</a:t>
            </a:r>
          </a:p>
        </p:txBody>
      </p:sp>
      <p:sp>
        <p:nvSpPr>
          <p:cNvPr id="44" name="TextBox 43"/>
          <p:cNvSpPr txBox="1"/>
          <p:nvPr/>
        </p:nvSpPr>
        <p:spPr>
          <a:xfrm>
            <a:off x="8750808" y="3602736"/>
            <a:ext cx="2898648" cy="329184"/>
          </a:xfrm>
          <a:prstGeom prst="rect">
            <a:avLst/>
          </a:prstGeom>
          <a:noFill/>
        </p:spPr>
        <p:txBody>
          <a:bodyPr wrap="square">
            <a:spAutoFit/>
          </a:bodyPr>
          <a:lstStyle/>
          <a:p>
            <a:pPr algn="ctr"/>
            <a:r>
              <a:rPr sz="1100" b="0" i="0">
                <a:solidFill>
                  <a:srgbClr val="C0392B"/>
                </a:solidFill>
                <a:latin typeface="Calibri"/>
              </a:rPr>
              <a:t>0.696  (n = 369)   †</a:t>
            </a:r>
          </a:p>
        </p:txBody>
      </p:sp>
      <p:sp>
        <p:nvSpPr>
          <p:cNvPr id="45" name="Rectangle 44"/>
          <p:cNvSpPr/>
          <p:nvPr/>
        </p:nvSpPr>
        <p:spPr>
          <a:xfrm>
            <a:off x="502920" y="3995928"/>
            <a:ext cx="1118311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76072" y="4078224"/>
            <a:ext cx="2084831" cy="329184"/>
          </a:xfrm>
          <a:prstGeom prst="rect">
            <a:avLst/>
          </a:prstGeom>
          <a:noFill/>
        </p:spPr>
        <p:txBody>
          <a:bodyPr wrap="square">
            <a:spAutoFit/>
          </a:bodyPr>
          <a:lstStyle/>
          <a:p>
            <a:pPr algn="l"/>
            <a:r>
              <a:rPr sz="1100" b="1" i="0">
                <a:solidFill>
                  <a:srgbClr val="007A94"/>
                </a:solidFill>
                <a:latin typeface="Calibri"/>
              </a:rPr>
              <a:t>MAFFT FFT-NS-2</a:t>
            </a:r>
          </a:p>
        </p:txBody>
      </p:sp>
      <p:sp>
        <p:nvSpPr>
          <p:cNvPr id="47" name="TextBox 46"/>
          <p:cNvSpPr txBox="1"/>
          <p:nvPr/>
        </p:nvSpPr>
        <p:spPr>
          <a:xfrm>
            <a:off x="2770632" y="4078224"/>
            <a:ext cx="1883664" cy="329184"/>
          </a:xfrm>
          <a:prstGeom prst="rect">
            <a:avLst/>
          </a:prstGeom>
          <a:noFill/>
        </p:spPr>
        <p:txBody>
          <a:bodyPr wrap="square">
            <a:spAutoFit/>
          </a:bodyPr>
          <a:lstStyle/>
          <a:p>
            <a:pPr algn="ctr"/>
            <a:r>
              <a:rPr sz="1100" b="0" i="0">
                <a:solidFill>
                  <a:srgbClr val="2D3748"/>
                </a:solidFill>
                <a:latin typeface="Calibri"/>
              </a:rPr>
              <a:t>0.688</a:t>
            </a:r>
          </a:p>
        </p:txBody>
      </p:sp>
      <p:sp>
        <p:nvSpPr>
          <p:cNvPr id="48" name="TextBox 47"/>
          <p:cNvSpPr txBox="1"/>
          <p:nvPr/>
        </p:nvSpPr>
        <p:spPr>
          <a:xfrm>
            <a:off x="4764024" y="4078224"/>
            <a:ext cx="1883664" cy="329184"/>
          </a:xfrm>
          <a:prstGeom prst="rect">
            <a:avLst/>
          </a:prstGeom>
          <a:noFill/>
        </p:spPr>
        <p:txBody>
          <a:bodyPr wrap="square">
            <a:spAutoFit/>
          </a:bodyPr>
          <a:lstStyle/>
          <a:p>
            <a:pPr algn="ctr"/>
            <a:r>
              <a:rPr sz="1100" b="0" i="0">
                <a:solidFill>
                  <a:srgbClr val="2D3748"/>
                </a:solidFill>
                <a:latin typeface="Calibri"/>
              </a:rPr>
              <a:t>0.882</a:t>
            </a:r>
          </a:p>
        </p:txBody>
      </p:sp>
      <p:sp>
        <p:nvSpPr>
          <p:cNvPr id="49" name="TextBox 48"/>
          <p:cNvSpPr txBox="1"/>
          <p:nvPr/>
        </p:nvSpPr>
        <p:spPr>
          <a:xfrm>
            <a:off x="6757416" y="4078224"/>
            <a:ext cx="1883664" cy="329184"/>
          </a:xfrm>
          <a:prstGeom prst="rect">
            <a:avLst/>
          </a:prstGeom>
          <a:noFill/>
        </p:spPr>
        <p:txBody>
          <a:bodyPr wrap="square">
            <a:spAutoFit/>
          </a:bodyPr>
          <a:lstStyle/>
          <a:p>
            <a:pPr algn="ctr"/>
            <a:r>
              <a:rPr sz="1100" b="0" i="0">
                <a:solidFill>
                  <a:srgbClr val="2D3748"/>
                </a:solidFill>
                <a:latin typeface="Calibri"/>
              </a:rPr>
              <a:t>0.537</a:t>
            </a:r>
          </a:p>
        </p:txBody>
      </p:sp>
      <p:sp>
        <p:nvSpPr>
          <p:cNvPr id="50" name="TextBox 49"/>
          <p:cNvSpPr txBox="1"/>
          <p:nvPr/>
        </p:nvSpPr>
        <p:spPr>
          <a:xfrm>
            <a:off x="8750808" y="4078224"/>
            <a:ext cx="2898648" cy="329184"/>
          </a:xfrm>
          <a:prstGeom prst="rect">
            <a:avLst/>
          </a:prstGeom>
          <a:noFill/>
        </p:spPr>
        <p:txBody>
          <a:bodyPr wrap="square">
            <a:spAutoFit/>
          </a:bodyPr>
          <a:lstStyle/>
          <a:p>
            <a:pPr algn="ctr"/>
            <a:r>
              <a:rPr sz="1100" b="0" i="0">
                <a:solidFill>
                  <a:srgbClr val="2D3748"/>
                </a:solidFill>
                <a:latin typeface="Calibri"/>
              </a:rPr>
              <a:t>0.650  (n = 1,681)</a:t>
            </a:r>
          </a:p>
        </p:txBody>
      </p:sp>
      <p:sp>
        <p:nvSpPr>
          <p:cNvPr id="51" name="Rectangle 50"/>
          <p:cNvSpPr/>
          <p:nvPr/>
        </p:nvSpPr>
        <p:spPr>
          <a:xfrm>
            <a:off x="502920" y="4471416"/>
            <a:ext cx="11183112" cy="475488"/>
          </a:xfrm>
          <a:prstGeom prst="rect">
            <a:avLst/>
          </a:prstGeom>
          <a:solidFill>
            <a:srgbClr val="E8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76072" y="4553712"/>
            <a:ext cx="2084831" cy="329184"/>
          </a:xfrm>
          <a:prstGeom prst="rect">
            <a:avLst/>
          </a:prstGeom>
          <a:noFill/>
        </p:spPr>
        <p:txBody>
          <a:bodyPr wrap="square">
            <a:spAutoFit/>
          </a:bodyPr>
          <a:lstStyle/>
          <a:p>
            <a:pPr algn="l"/>
            <a:r>
              <a:rPr sz="1100" b="1" i="0">
                <a:solidFill>
                  <a:srgbClr val="007A94"/>
                </a:solidFill>
                <a:latin typeface="Calibri"/>
              </a:rPr>
              <a:t>Kalign3</a:t>
            </a:r>
          </a:p>
        </p:txBody>
      </p:sp>
      <p:sp>
        <p:nvSpPr>
          <p:cNvPr id="53" name="TextBox 52"/>
          <p:cNvSpPr txBox="1"/>
          <p:nvPr/>
        </p:nvSpPr>
        <p:spPr>
          <a:xfrm>
            <a:off x="2770632" y="4553712"/>
            <a:ext cx="1883664" cy="329184"/>
          </a:xfrm>
          <a:prstGeom prst="rect">
            <a:avLst/>
          </a:prstGeom>
          <a:noFill/>
        </p:spPr>
        <p:txBody>
          <a:bodyPr wrap="square">
            <a:spAutoFit/>
          </a:bodyPr>
          <a:lstStyle/>
          <a:p>
            <a:pPr algn="ctr"/>
            <a:r>
              <a:rPr sz="1100" b="0" i="0">
                <a:solidFill>
                  <a:srgbClr val="2D3748"/>
                </a:solidFill>
                <a:latin typeface="Calibri"/>
              </a:rPr>
              <a:t>0.692</a:t>
            </a:r>
          </a:p>
        </p:txBody>
      </p:sp>
      <p:sp>
        <p:nvSpPr>
          <p:cNvPr id="54" name="TextBox 53"/>
          <p:cNvSpPr txBox="1"/>
          <p:nvPr/>
        </p:nvSpPr>
        <p:spPr>
          <a:xfrm>
            <a:off x="4764024" y="4553712"/>
            <a:ext cx="1883664" cy="329184"/>
          </a:xfrm>
          <a:prstGeom prst="rect">
            <a:avLst/>
          </a:prstGeom>
          <a:noFill/>
        </p:spPr>
        <p:txBody>
          <a:bodyPr wrap="square">
            <a:spAutoFit/>
          </a:bodyPr>
          <a:lstStyle/>
          <a:p>
            <a:pPr algn="ctr"/>
            <a:r>
              <a:rPr sz="1100" b="0" i="0">
                <a:solidFill>
                  <a:srgbClr val="2D3748"/>
                </a:solidFill>
                <a:latin typeface="Calibri"/>
              </a:rPr>
              <a:t>0.886</a:t>
            </a:r>
          </a:p>
        </p:txBody>
      </p:sp>
      <p:sp>
        <p:nvSpPr>
          <p:cNvPr id="55" name="TextBox 54"/>
          <p:cNvSpPr txBox="1"/>
          <p:nvPr/>
        </p:nvSpPr>
        <p:spPr>
          <a:xfrm>
            <a:off x="6757416" y="4553712"/>
            <a:ext cx="1883664" cy="329184"/>
          </a:xfrm>
          <a:prstGeom prst="rect">
            <a:avLst/>
          </a:prstGeom>
          <a:noFill/>
        </p:spPr>
        <p:txBody>
          <a:bodyPr wrap="square">
            <a:spAutoFit/>
          </a:bodyPr>
          <a:lstStyle/>
          <a:p>
            <a:pPr algn="ctr"/>
            <a:r>
              <a:rPr sz="1100" b="0" i="0">
                <a:solidFill>
                  <a:srgbClr val="2D3748"/>
                </a:solidFill>
                <a:latin typeface="Calibri"/>
              </a:rPr>
              <a:t>0.522</a:t>
            </a:r>
          </a:p>
        </p:txBody>
      </p:sp>
      <p:sp>
        <p:nvSpPr>
          <p:cNvPr id="56" name="TextBox 55"/>
          <p:cNvSpPr txBox="1"/>
          <p:nvPr/>
        </p:nvSpPr>
        <p:spPr>
          <a:xfrm>
            <a:off x="8750808" y="4553712"/>
            <a:ext cx="2898648" cy="329184"/>
          </a:xfrm>
          <a:prstGeom prst="rect">
            <a:avLst/>
          </a:prstGeom>
          <a:noFill/>
        </p:spPr>
        <p:txBody>
          <a:bodyPr wrap="square">
            <a:spAutoFit/>
          </a:bodyPr>
          <a:lstStyle/>
          <a:p>
            <a:pPr algn="ctr"/>
            <a:r>
              <a:rPr sz="1100" b="0" i="0">
                <a:solidFill>
                  <a:srgbClr val="2D3748"/>
                </a:solidFill>
                <a:latin typeface="Calibri"/>
              </a:rPr>
              <a:t>0.617  (n = 1,681)</a:t>
            </a:r>
          </a:p>
        </p:txBody>
      </p:sp>
      <p:sp>
        <p:nvSpPr>
          <p:cNvPr id="57" name="TextBox 56"/>
          <p:cNvSpPr txBox="1"/>
          <p:nvPr/>
        </p:nvSpPr>
        <p:spPr>
          <a:xfrm>
            <a:off x="502920" y="5038344"/>
            <a:ext cx="11183112" cy="256032"/>
          </a:xfrm>
          <a:prstGeom prst="rect">
            <a:avLst/>
          </a:prstGeom>
          <a:noFill/>
        </p:spPr>
        <p:txBody>
          <a:bodyPr wrap="square">
            <a:spAutoFit/>
          </a:bodyPr>
          <a:lstStyle/>
          <a:p>
            <a:pPr algn="l"/>
            <a:r>
              <a:rPr sz="900" b="0" i="1">
                <a:solidFill>
                  <a:srgbClr val="718096"/>
                </a:solidFill>
                <a:latin typeface="Calibri"/>
              </a:rPr>
              <a:t>† Clustal Omega: 78% timeout on PREFAB4  ‡ T-Coffee: 11% timeout on BAliBASE</a:t>
            </a:r>
          </a:p>
        </p:txBody>
      </p:sp>
      <p:sp>
        <p:nvSpPr>
          <p:cNvPr id="58" name="Rectangle 57"/>
          <p:cNvSpPr/>
          <p:nvPr/>
        </p:nvSpPr>
        <p:spPr>
          <a:xfrm>
            <a:off x="502920" y="5367528"/>
            <a:ext cx="11183112" cy="475488"/>
          </a:xfrm>
          <a:prstGeom prst="rect">
            <a:avLst/>
          </a:prstGeom>
          <a:solidFill>
            <a:srgbClr val="E8F8FB"/>
          </a:solidFill>
          <a:ln w="9525">
            <a:solidFill>
              <a:srgbClr val="00A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 y="5440680"/>
            <a:ext cx="10954512" cy="329184"/>
          </a:xfrm>
          <a:prstGeom prst="rect">
            <a:avLst/>
          </a:prstGeom>
          <a:noFill/>
        </p:spPr>
        <p:txBody>
          <a:bodyPr wrap="square">
            <a:spAutoFit/>
          </a:bodyPr>
          <a:lstStyle/>
          <a:p>
            <a:pPr algn="l"/>
            <a:r>
              <a:rPr sz="1200" b="1" i="0">
                <a:solidFill>
                  <a:srgbClr val="007A94"/>
                </a:solidFill>
                <a:latin typeface="Calibri"/>
              </a:rPr>
              <a:t>The three-tier ranking reproduced on all four independent benchmarks — confirming these results are generalisable, not artifacts of any single dataset.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83111" cy="658368"/>
          </a:xfrm>
          <a:prstGeom prst="rect">
            <a:avLst/>
          </a:prstGeom>
          <a:noFill/>
        </p:spPr>
        <p:txBody>
          <a:bodyPr wrap="square">
            <a:spAutoFit/>
          </a:bodyPr>
          <a:lstStyle/>
          <a:p>
            <a:pPr algn="l"/>
            <a:r>
              <a:rPr sz="2400" b="1" i="0">
                <a:solidFill>
                  <a:srgbClr val="2D3748"/>
                </a:solidFill>
                <a:latin typeface="Calibri"/>
              </a:rPr>
              <a:t>Conclusions &amp; Practical Recommendations</a:t>
            </a:r>
          </a:p>
        </p:txBody>
      </p:sp>
      <p:sp>
        <p:nvSpPr>
          <p:cNvPr id="4" name="TextBox 3"/>
          <p:cNvSpPr txBox="1"/>
          <p:nvPr/>
        </p:nvSpPr>
        <p:spPr>
          <a:xfrm>
            <a:off x="502920" y="749808"/>
            <a:ext cx="10725911" cy="329184"/>
          </a:xfrm>
          <a:prstGeom prst="rect">
            <a:avLst/>
          </a:prstGeom>
          <a:noFill/>
        </p:spPr>
        <p:txBody>
          <a:bodyPr wrap="square">
            <a:spAutoFit/>
          </a:bodyPr>
          <a:lstStyle/>
          <a:p>
            <a:pPr algn="l"/>
            <a:r>
              <a:rPr sz="1200" b="0" i="1">
                <a:solidFill>
                  <a:srgbClr val="00A3C4"/>
                </a:solidFill>
                <a:latin typeface="Calibri"/>
              </a:rPr>
              <a:t>Algorithm class is the primary predictor of alignment quality — not the dataset</a:t>
            </a:r>
          </a:p>
        </p:txBody>
      </p:sp>
      <p:sp>
        <p:nvSpPr>
          <p:cNvPr id="5" name="Rectangle 4"/>
          <p:cNvSpPr/>
          <p:nvPr/>
        </p:nvSpPr>
        <p:spPr>
          <a:xfrm>
            <a:off x="0" y="6492240"/>
            <a:ext cx="12188952" cy="36576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47103"/>
            <a:ext cx="9144000" cy="274320"/>
          </a:xfrm>
          <a:prstGeom prst="rect">
            <a:avLst/>
          </a:prstGeom>
          <a:noFill/>
        </p:spPr>
        <p:txBody>
          <a:bodyPr wrap="square">
            <a:spAutoFit/>
          </a:bodyPr>
          <a:lstStyle/>
          <a:p>
            <a:pPr algn="l"/>
            <a:r>
              <a:rPr sz="900" b="0" i="0">
                <a:solidFill>
                  <a:srgbClr val="718096"/>
                </a:solidFill>
                <a:latin typeface="Calibri"/>
              </a:rPr>
              <a:t>CS 502 — Computational Biology  |  UIC  |  Spring 2026</a:t>
            </a:r>
          </a:p>
        </p:txBody>
      </p:sp>
      <p:sp>
        <p:nvSpPr>
          <p:cNvPr id="8" name="TextBox 7"/>
          <p:cNvSpPr txBox="1"/>
          <p:nvPr/>
        </p:nvSpPr>
        <p:spPr>
          <a:xfrm>
            <a:off x="11045952" y="6547103"/>
            <a:ext cx="640080" cy="274320"/>
          </a:xfrm>
          <a:prstGeom prst="rect">
            <a:avLst/>
          </a:prstGeom>
          <a:noFill/>
        </p:spPr>
        <p:txBody>
          <a:bodyPr wrap="square">
            <a:spAutoFit/>
          </a:bodyPr>
          <a:lstStyle/>
          <a:p>
            <a:pPr algn="r"/>
            <a:r>
              <a:rPr sz="900" b="1" i="0">
                <a:solidFill>
                  <a:srgbClr val="00A3C4"/>
                </a:solidFill>
                <a:latin typeface="Calibri"/>
              </a:rPr>
              <a:t>10 / 10</a:t>
            </a:r>
          </a:p>
        </p:txBody>
      </p:sp>
      <p:sp>
        <p:nvSpPr>
          <p:cNvPr id="9" name="Rectangle 8"/>
          <p:cNvSpPr/>
          <p:nvPr/>
        </p:nvSpPr>
        <p:spPr>
          <a:xfrm>
            <a:off x="502920" y="1143000"/>
            <a:ext cx="11183111" cy="804672"/>
          </a:xfrm>
          <a:prstGeom prst="rect">
            <a:avLst/>
          </a:prstGeom>
          <a:solidFill>
            <a:srgbClr val="E8F8FB"/>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143000"/>
            <a:ext cx="54864" cy="804672"/>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216152"/>
            <a:ext cx="4572000" cy="310896"/>
          </a:xfrm>
          <a:prstGeom prst="rect">
            <a:avLst/>
          </a:prstGeom>
          <a:noFill/>
        </p:spPr>
        <p:txBody>
          <a:bodyPr wrap="square">
            <a:spAutoFit/>
          </a:bodyPr>
          <a:lstStyle/>
          <a:p>
            <a:pPr algn="l"/>
            <a:r>
              <a:rPr sz="1300" b="1" i="0">
                <a:solidFill>
                  <a:srgbClr val="00A3C4"/>
                </a:solidFill>
                <a:latin typeface="Calibri"/>
              </a:rPr>
              <a:t>Rankings are generalisable</a:t>
            </a:r>
          </a:p>
        </p:txBody>
      </p:sp>
      <p:sp>
        <p:nvSpPr>
          <p:cNvPr id="12" name="TextBox 11"/>
          <p:cNvSpPr txBox="1"/>
          <p:nvPr/>
        </p:nvSpPr>
        <p:spPr>
          <a:xfrm>
            <a:off x="5440680" y="1252728"/>
            <a:ext cx="6062471" cy="548640"/>
          </a:xfrm>
          <a:prstGeom prst="rect">
            <a:avLst/>
          </a:prstGeom>
          <a:noFill/>
        </p:spPr>
        <p:txBody>
          <a:bodyPr wrap="square">
            <a:spAutoFit/>
          </a:bodyPr>
          <a:lstStyle/>
          <a:p>
            <a:pPr algn="l"/>
            <a:r>
              <a:rPr sz="1200" b="0" i="0">
                <a:solidFill>
                  <a:srgbClr val="2D3748"/>
                </a:solidFill>
                <a:latin typeface="Calibri"/>
              </a:rPr>
              <a:t>The same three-tier structure appeared on all four independent benchmarks.</a:t>
            </a:r>
          </a:p>
        </p:txBody>
      </p:sp>
      <p:sp>
        <p:nvSpPr>
          <p:cNvPr id="13" name="Rectangle 12"/>
          <p:cNvSpPr/>
          <p:nvPr/>
        </p:nvSpPr>
        <p:spPr>
          <a:xfrm>
            <a:off x="502920" y="2057400"/>
            <a:ext cx="11183111" cy="804672"/>
          </a:xfrm>
          <a:prstGeom prst="rect">
            <a:avLst/>
          </a:prstGeom>
          <a:solidFill>
            <a:srgbClr val="E8F8FB"/>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2057400"/>
            <a:ext cx="54864" cy="8046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130552"/>
            <a:ext cx="4572000" cy="310896"/>
          </a:xfrm>
          <a:prstGeom prst="rect">
            <a:avLst/>
          </a:prstGeom>
          <a:noFill/>
        </p:spPr>
        <p:txBody>
          <a:bodyPr wrap="square">
            <a:spAutoFit/>
          </a:bodyPr>
          <a:lstStyle/>
          <a:p>
            <a:pPr algn="l"/>
            <a:r>
              <a:rPr sz="1300" b="1" i="0">
                <a:solidFill>
                  <a:srgbClr val="27AE60"/>
                </a:solidFill>
                <a:latin typeface="Calibri"/>
              </a:rPr>
              <a:t>Accuracy advantage is largest where biology is hardest</a:t>
            </a:r>
          </a:p>
        </p:txBody>
      </p:sp>
      <p:sp>
        <p:nvSpPr>
          <p:cNvPr id="16" name="TextBox 15"/>
          <p:cNvSpPr txBox="1"/>
          <p:nvPr/>
        </p:nvSpPr>
        <p:spPr>
          <a:xfrm>
            <a:off x="5440680" y="2167128"/>
            <a:ext cx="6062471" cy="548640"/>
          </a:xfrm>
          <a:prstGeom prst="rect">
            <a:avLst/>
          </a:prstGeom>
          <a:noFill/>
        </p:spPr>
        <p:txBody>
          <a:bodyPr wrap="square">
            <a:spAutoFit/>
          </a:bodyPr>
          <a:lstStyle/>
          <a:p>
            <a:pPr algn="l"/>
            <a:r>
              <a:rPr sz="1200" b="0" i="0">
                <a:solidFill>
                  <a:srgbClr val="2D3748"/>
                </a:solidFill>
                <a:latin typeface="Calibri"/>
              </a:rPr>
              <a:t>Below 20% identity, top-tier tools deliver ~15 extra correct pairs per 100 — enough to change a phylogenetic topology or a drug-binding site.</a:t>
            </a:r>
          </a:p>
        </p:txBody>
      </p:sp>
      <p:sp>
        <p:nvSpPr>
          <p:cNvPr id="17" name="Rectangle 16"/>
          <p:cNvSpPr/>
          <p:nvPr/>
        </p:nvSpPr>
        <p:spPr>
          <a:xfrm>
            <a:off x="502920" y="2971800"/>
            <a:ext cx="11183111" cy="804672"/>
          </a:xfrm>
          <a:prstGeom prst="rect">
            <a:avLst/>
          </a:prstGeom>
          <a:solidFill>
            <a:srgbClr val="E8F8FB"/>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971800"/>
            <a:ext cx="54864" cy="804672"/>
          </a:xfrm>
          <a:prstGeom prst="rect">
            <a:avLst/>
          </a:prstGeom>
          <a:solidFill>
            <a:srgbClr val="D3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044952"/>
            <a:ext cx="4572000" cy="310896"/>
          </a:xfrm>
          <a:prstGeom prst="rect">
            <a:avLst/>
          </a:prstGeom>
          <a:noFill/>
        </p:spPr>
        <p:txBody>
          <a:bodyPr wrap="square">
            <a:spAutoFit/>
          </a:bodyPr>
          <a:lstStyle/>
          <a:p>
            <a:pPr algn="l"/>
            <a:r>
              <a:rPr sz="1300" b="1" i="0">
                <a:solidFill>
                  <a:srgbClr val="D37800"/>
                </a:solidFill>
                <a:latin typeface="Calibri"/>
              </a:rPr>
              <a:t>Two tools dominate the Pareto frontier</a:t>
            </a:r>
          </a:p>
        </p:txBody>
      </p:sp>
      <p:sp>
        <p:nvSpPr>
          <p:cNvPr id="20" name="TextBox 19"/>
          <p:cNvSpPr txBox="1"/>
          <p:nvPr/>
        </p:nvSpPr>
        <p:spPr>
          <a:xfrm>
            <a:off x="5440680" y="3081528"/>
            <a:ext cx="6062471" cy="548640"/>
          </a:xfrm>
          <a:prstGeom prst="rect">
            <a:avLst/>
          </a:prstGeom>
          <a:noFill/>
        </p:spPr>
        <p:txBody>
          <a:bodyPr wrap="square">
            <a:spAutoFit/>
          </a:bodyPr>
          <a:lstStyle/>
          <a:p>
            <a:pPr algn="l"/>
            <a:r>
              <a:rPr sz="1200" b="0" i="0">
                <a:solidFill>
                  <a:srgbClr val="2D3748"/>
                </a:solidFill>
                <a:latin typeface="Calibri"/>
              </a:rPr>
              <a:t>FAMSA for throughput. MUSCLE5 for accuracy. All other tools are dominated by at least one of these two on speed, accuracy, or both.</a:t>
            </a:r>
          </a:p>
        </p:txBody>
      </p:sp>
      <p:sp>
        <p:nvSpPr>
          <p:cNvPr id="21" name="Rectangle 20"/>
          <p:cNvSpPr/>
          <p:nvPr/>
        </p:nvSpPr>
        <p:spPr>
          <a:xfrm>
            <a:off x="502920" y="4069080"/>
            <a:ext cx="11183111" cy="27432"/>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4197096"/>
            <a:ext cx="11183111" cy="329184"/>
          </a:xfrm>
          <a:prstGeom prst="rect">
            <a:avLst/>
          </a:prstGeom>
          <a:noFill/>
        </p:spPr>
        <p:txBody>
          <a:bodyPr wrap="square">
            <a:spAutoFit/>
          </a:bodyPr>
          <a:lstStyle/>
          <a:p>
            <a:pPr algn="l"/>
            <a:r>
              <a:rPr sz="1300" b="1" i="0">
                <a:solidFill>
                  <a:srgbClr val="2D3748"/>
                </a:solidFill>
                <a:latin typeface="Calibri"/>
              </a:rPr>
              <a:t>Quick-reference guide</a:t>
            </a:r>
          </a:p>
        </p:txBody>
      </p:sp>
      <p:sp>
        <p:nvSpPr>
          <p:cNvPr id="23" name="Rectangle 22"/>
          <p:cNvSpPr/>
          <p:nvPr/>
        </p:nvSpPr>
        <p:spPr>
          <a:xfrm>
            <a:off x="502920" y="4599431"/>
            <a:ext cx="2590037" cy="1060704"/>
          </a:xfrm>
          <a:prstGeom prst="rect">
            <a:avLst/>
          </a:prstGeom>
          <a:solidFill>
            <a:srgbClr val="E8F8FB"/>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4599431"/>
            <a:ext cx="2590037" cy="54864"/>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4727447"/>
            <a:ext cx="2407157" cy="548640"/>
          </a:xfrm>
          <a:prstGeom prst="rect">
            <a:avLst/>
          </a:prstGeom>
          <a:noFill/>
        </p:spPr>
        <p:txBody>
          <a:bodyPr wrap="square">
            <a:spAutoFit/>
          </a:bodyPr>
          <a:lstStyle/>
          <a:p>
            <a:pPr algn="l"/>
            <a:r>
              <a:rPr sz="1100" b="0" i="0">
                <a:solidFill>
                  <a:srgbClr val="718096"/>
                </a:solidFill>
                <a:latin typeface="Calibri"/>
              </a:rPr>
              <a:t>Divergent sequences  (&lt;20% identity)</a:t>
            </a:r>
          </a:p>
        </p:txBody>
      </p:sp>
      <p:sp>
        <p:nvSpPr>
          <p:cNvPr id="26" name="Rectangle 25"/>
          <p:cNvSpPr/>
          <p:nvPr/>
        </p:nvSpPr>
        <p:spPr>
          <a:xfrm>
            <a:off x="594360" y="5294375"/>
            <a:ext cx="2407157" cy="347472"/>
          </a:xfrm>
          <a:prstGeom prst="rect">
            <a:avLst/>
          </a:prstGeom>
          <a:solidFill>
            <a:srgbClr val="00A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294375"/>
            <a:ext cx="2407157" cy="347472"/>
          </a:xfrm>
          <a:prstGeom prst="rect">
            <a:avLst/>
          </a:prstGeom>
          <a:noFill/>
        </p:spPr>
        <p:txBody>
          <a:bodyPr wrap="square">
            <a:spAutoFit/>
          </a:bodyPr>
          <a:lstStyle/>
          <a:p>
            <a:pPr algn="ctr"/>
            <a:r>
              <a:rPr sz="1100" b="1" i="0">
                <a:solidFill>
                  <a:srgbClr val="FFFFFF"/>
                </a:solidFill>
                <a:latin typeface="Calibri"/>
              </a:rPr>
              <a:t>MUSCLE5  or  MAFFT L-INS-i</a:t>
            </a:r>
          </a:p>
        </p:txBody>
      </p:sp>
      <p:sp>
        <p:nvSpPr>
          <p:cNvPr id="28" name="Rectangle 27"/>
          <p:cNvSpPr/>
          <p:nvPr/>
        </p:nvSpPr>
        <p:spPr>
          <a:xfrm>
            <a:off x="3367277" y="4599431"/>
            <a:ext cx="2590037" cy="1060704"/>
          </a:xfrm>
          <a:prstGeom prst="rect">
            <a:avLst/>
          </a:prstGeom>
          <a:solidFill>
            <a:srgbClr val="E8F8FB"/>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67277" y="4599431"/>
            <a:ext cx="2590037"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7005" y="4727447"/>
            <a:ext cx="2407157" cy="548640"/>
          </a:xfrm>
          <a:prstGeom prst="rect">
            <a:avLst/>
          </a:prstGeom>
          <a:noFill/>
        </p:spPr>
        <p:txBody>
          <a:bodyPr wrap="square">
            <a:spAutoFit/>
          </a:bodyPr>
          <a:lstStyle/>
          <a:p>
            <a:pPr algn="l"/>
            <a:r>
              <a:rPr sz="1100" b="0" i="0">
                <a:solidFill>
                  <a:srgbClr val="718096"/>
                </a:solidFill>
                <a:latin typeface="Calibri"/>
              </a:rPr>
              <a:t>Genome-scale pipelines  (any family size)</a:t>
            </a:r>
          </a:p>
        </p:txBody>
      </p:sp>
      <p:sp>
        <p:nvSpPr>
          <p:cNvPr id="31" name="Rectangle 30"/>
          <p:cNvSpPr/>
          <p:nvPr/>
        </p:nvSpPr>
        <p:spPr>
          <a:xfrm>
            <a:off x="3458717" y="5294375"/>
            <a:ext cx="2407157"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58717" y="5294375"/>
            <a:ext cx="2407157" cy="347472"/>
          </a:xfrm>
          <a:prstGeom prst="rect">
            <a:avLst/>
          </a:prstGeom>
          <a:noFill/>
        </p:spPr>
        <p:txBody>
          <a:bodyPr wrap="square">
            <a:spAutoFit/>
          </a:bodyPr>
          <a:lstStyle/>
          <a:p>
            <a:pPr algn="ctr"/>
            <a:r>
              <a:rPr sz="1100" b="1" i="0">
                <a:solidFill>
                  <a:srgbClr val="FFFFFF"/>
                </a:solidFill>
                <a:latin typeface="Calibri"/>
              </a:rPr>
              <a:t>FAMSA</a:t>
            </a:r>
          </a:p>
        </p:txBody>
      </p:sp>
      <p:sp>
        <p:nvSpPr>
          <p:cNvPr id="33" name="Rectangle 32"/>
          <p:cNvSpPr/>
          <p:nvPr/>
        </p:nvSpPr>
        <p:spPr>
          <a:xfrm>
            <a:off x="6231635" y="4599431"/>
            <a:ext cx="2590037" cy="1060704"/>
          </a:xfrm>
          <a:prstGeom prst="rect">
            <a:avLst/>
          </a:prstGeom>
          <a:solidFill>
            <a:srgbClr val="E8F8FB"/>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31635" y="4599431"/>
            <a:ext cx="2590037" cy="54864"/>
          </a:xfrm>
          <a:prstGeom prst="rect">
            <a:avLst/>
          </a:prstGeom>
          <a:solidFill>
            <a:srgbClr val="718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1363" y="4727447"/>
            <a:ext cx="2407157" cy="548640"/>
          </a:xfrm>
          <a:prstGeom prst="rect">
            <a:avLst/>
          </a:prstGeom>
          <a:noFill/>
        </p:spPr>
        <p:txBody>
          <a:bodyPr wrap="square">
            <a:spAutoFit/>
          </a:bodyPr>
          <a:lstStyle/>
          <a:p>
            <a:pPr algn="l"/>
            <a:r>
              <a:rPr sz="1100" b="0" i="0">
                <a:solidFill>
                  <a:srgbClr val="718096"/>
                </a:solidFill>
                <a:latin typeface="Calibri"/>
              </a:rPr>
              <a:t>Speed-only / very large datasets</a:t>
            </a:r>
          </a:p>
        </p:txBody>
      </p:sp>
      <p:sp>
        <p:nvSpPr>
          <p:cNvPr id="36" name="Rectangle 35"/>
          <p:cNvSpPr/>
          <p:nvPr/>
        </p:nvSpPr>
        <p:spPr>
          <a:xfrm>
            <a:off x="6323075" y="5294375"/>
            <a:ext cx="2407157" cy="347472"/>
          </a:xfrm>
          <a:prstGeom prst="rect">
            <a:avLst/>
          </a:prstGeom>
          <a:solidFill>
            <a:srgbClr val="718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23075" y="5294375"/>
            <a:ext cx="2407157" cy="347472"/>
          </a:xfrm>
          <a:prstGeom prst="rect">
            <a:avLst/>
          </a:prstGeom>
          <a:noFill/>
        </p:spPr>
        <p:txBody>
          <a:bodyPr wrap="square">
            <a:spAutoFit/>
          </a:bodyPr>
          <a:lstStyle/>
          <a:p>
            <a:pPr algn="ctr"/>
            <a:r>
              <a:rPr sz="1100" b="1" i="0">
                <a:solidFill>
                  <a:srgbClr val="FFFFFF"/>
                </a:solidFill>
                <a:latin typeface="Calibri"/>
              </a:rPr>
              <a:t>Kalign3</a:t>
            </a:r>
          </a:p>
        </p:txBody>
      </p:sp>
      <p:sp>
        <p:nvSpPr>
          <p:cNvPr id="38" name="Rectangle 37"/>
          <p:cNvSpPr/>
          <p:nvPr/>
        </p:nvSpPr>
        <p:spPr>
          <a:xfrm>
            <a:off x="9095993" y="4599431"/>
            <a:ext cx="2590037" cy="1060704"/>
          </a:xfrm>
          <a:prstGeom prst="rect">
            <a:avLst/>
          </a:prstGeom>
          <a:solidFill>
            <a:srgbClr val="E8F8FB"/>
          </a:solidFill>
          <a:ln w="38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95993" y="4599431"/>
            <a:ext cx="2590037" cy="54864"/>
          </a:xfrm>
          <a:prstGeom prst="rect">
            <a:avLst/>
          </a:prstGeom>
          <a:solidFill>
            <a:srgbClr val="D3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05721" y="4727447"/>
            <a:ext cx="2407157" cy="548640"/>
          </a:xfrm>
          <a:prstGeom prst="rect">
            <a:avLst/>
          </a:prstGeom>
          <a:noFill/>
        </p:spPr>
        <p:txBody>
          <a:bodyPr wrap="square">
            <a:spAutoFit/>
          </a:bodyPr>
          <a:lstStyle/>
          <a:p>
            <a:pPr algn="l"/>
            <a:r>
              <a:rPr sz="1100" b="0" i="0">
                <a:solidFill>
                  <a:srgbClr val="718096"/>
                </a:solidFill>
                <a:latin typeface="Calibri"/>
              </a:rPr>
              <a:t>Small curated families, no time limit</a:t>
            </a:r>
          </a:p>
        </p:txBody>
      </p:sp>
      <p:sp>
        <p:nvSpPr>
          <p:cNvPr id="41" name="Rectangle 40"/>
          <p:cNvSpPr/>
          <p:nvPr/>
        </p:nvSpPr>
        <p:spPr>
          <a:xfrm>
            <a:off x="9187433" y="5294375"/>
            <a:ext cx="2407157" cy="347472"/>
          </a:xfrm>
          <a:prstGeom prst="rect">
            <a:avLst/>
          </a:prstGeom>
          <a:solidFill>
            <a:srgbClr val="D3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87433" y="5294375"/>
            <a:ext cx="2407157" cy="347472"/>
          </a:xfrm>
          <a:prstGeom prst="rect">
            <a:avLst/>
          </a:prstGeom>
          <a:noFill/>
        </p:spPr>
        <p:txBody>
          <a:bodyPr wrap="square">
            <a:spAutoFit/>
          </a:bodyPr>
          <a:lstStyle/>
          <a:p>
            <a:pPr algn="ctr"/>
            <a:r>
              <a:rPr sz="1100" b="1" i="0">
                <a:solidFill>
                  <a:srgbClr val="FFFFFF"/>
                </a:solidFill>
                <a:latin typeface="Calibri"/>
              </a:rPr>
              <a:t>T-Coffee</a:t>
            </a:r>
          </a:p>
        </p:txBody>
      </p:sp>
      <p:sp>
        <p:nvSpPr>
          <p:cNvPr id="43" name="TextBox 42"/>
          <p:cNvSpPr txBox="1"/>
          <p:nvPr/>
        </p:nvSpPr>
        <p:spPr>
          <a:xfrm>
            <a:off x="502920" y="6144768"/>
            <a:ext cx="11183111" cy="256032"/>
          </a:xfrm>
          <a:prstGeom prst="rect">
            <a:avLst/>
          </a:prstGeom>
          <a:noFill/>
        </p:spPr>
        <p:txBody>
          <a:bodyPr wrap="square">
            <a:spAutoFit/>
          </a:bodyPr>
          <a:lstStyle/>
          <a:p>
            <a:pPr algn="l"/>
            <a:r>
              <a:rPr sz="950" b="0" i="1">
                <a:solidFill>
                  <a:srgbClr val="718096"/>
                </a:solidFill>
                <a:latin typeface="Calibri"/>
              </a:rPr>
              <a:t>Future work: deep-learning aligners with AlphaFold embeddings  ·  RNA families  ·  Multi-threaded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